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9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8989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D1C9D22E-6D04-4EEF-93B6-85FAB77996E9}"/>
              </a:ext>
            </a:extLst>
          </p:cNvPr>
          <p:cNvSpPr>
            <a:spLocks noGrp="1"/>
          </p:cNvSpPr>
          <p:nvPr/>
        </p:nvSpPr>
        <p:spPr>
          <a:xfrm>
            <a:off x="5410200" y="1804988"/>
            <a:ext cx="6191251" cy="2895599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מערכת </a:t>
            </a:r>
            <a:r>
              <a:rPr lang="en-US" dirty="0"/>
              <a:t>AI</a:t>
            </a:r>
            <a:r>
              <a:rPr lang="he-IL" dirty="0"/>
              <a:t> חכמה</a:t>
            </a:r>
          </a:p>
          <a:p>
            <a: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he-IL" dirty="0"/>
          </a:p>
          <a:p>
            <a: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המתאימה קורות חיים למשרות באמצעות הבינה</a:t>
            </a:r>
          </a:p>
          <a:p>
            <a: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B80E6F30-434E-4272-86E2-B15587FED980}"/>
              </a:ext>
            </a:extLst>
          </p:cNvPr>
          <p:cNvSpPr>
            <a:spLocks noGrp="1"/>
          </p:cNvSpPr>
          <p:nvPr/>
        </p:nvSpPr>
        <p:spPr>
          <a:xfrm>
            <a:off x="10001250" y="314325"/>
            <a:ext cx="1428750" cy="247650"/>
          </a:xfrm>
          <a:prstGeom prst="roundRect">
            <a:avLst>
              <a:gd name="adj" fmla="val 30769"/>
            </a:avLst>
          </a:prstGeom>
          <a:solidFill>
            <a:srgbClr val="153447"/>
          </a:solidFill>
          <a:ln w="0">
            <a:solidFill>
              <a:srgbClr val="153447"/>
            </a:solidFill>
          </a:ln>
        </p:spPr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1133D66E-FB5A-4838-837C-31A0278D3BFC}"/>
              </a:ext>
            </a:extLst>
          </p:cNvPr>
          <p:cNvSpPr>
            <a:spLocks noGrp="1"/>
          </p:cNvSpPr>
          <p:nvPr/>
        </p:nvSpPr>
        <p:spPr>
          <a:xfrm>
            <a:off x="10001250" y="295275"/>
            <a:ext cx="14287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825" b="1">
                <a:solidFill>
                  <a:srgbClr val="35D0C7"/>
                </a:solidFill>
                <a:latin typeface="Arial"/>
                <a:ea typeface="Arial"/>
                <a:cs typeface="Arial"/>
              </a:defRPr>
            </a:pPr>
            <a:r>
              <a:t>PRODUCT DESIGN</a:t>
            </a:r>
          </a:p>
        </p:txBody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945829D0-212E-45C3-87A6-970673A84574}"/>
              </a:ext>
            </a:extLst>
          </p:cNvPr>
          <p:cNvSpPr>
            <a:spLocks noGrp="1"/>
          </p:cNvSpPr>
          <p:nvPr/>
        </p:nvSpPr>
        <p:spPr>
          <a:xfrm>
            <a:off x="1066800" y="1295400"/>
            <a:ext cx="1104900" cy="1104900"/>
          </a:xfrm>
          <a:prstGeom prst="ellipse">
            <a:avLst/>
          </a:prstGeom>
          <a:solidFill>
            <a:srgbClr val="F5F8FA"/>
          </a:solidFill>
          <a:ln w="0">
            <a:solidFill>
              <a:srgbClr val="F5F8FA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21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CV</a:t>
            </a: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2957F063-71DD-4FED-A994-FB927C7AC755}"/>
              </a:ext>
            </a:extLst>
          </p:cNvPr>
          <p:cNvSpPr>
            <a:spLocks noGrp="1"/>
          </p:cNvSpPr>
          <p:nvPr/>
        </p:nvSpPr>
        <p:spPr>
          <a:xfrm>
            <a:off x="3238500" y="819150"/>
            <a:ext cx="1104900" cy="11049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21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AI</a:t>
            </a:r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AEF2F909-86AC-48A4-BDA1-2B15BF27CB2D}"/>
              </a:ext>
            </a:extLst>
          </p:cNvPr>
          <p:cNvSpPr>
            <a:spLocks noGrp="1"/>
          </p:cNvSpPr>
          <p:nvPr/>
        </p:nvSpPr>
        <p:spPr>
          <a:xfrm>
            <a:off x="4457700" y="2762250"/>
            <a:ext cx="1104900" cy="110490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3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MATCH</a:t>
            </a:r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C9075039-592F-4E5A-8619-713D2E0FE27A}"/>
              </a:ext>
            </a:extLst>
          </p:cNvPr>
          <p:cNvSpPr>
            <a:spLocks noGrp="1"/>
          </p:cNvSpPr>
          <p:nvPr/>
        </p:nvSpPr>
        <p:spPr>
          <a:xfrm>
            <a:off x="2095500" y="3638550"/>
            <a:ext cx="1104900" cy="11049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9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PDF</a:t>
            </a:r>
          </a:p>
        </p:txBody>
      </p:sp>
      <p:cxnSp>
        <p:nvCxnSpPr>
          <p:cNvPr id="11" name="מחבר חץ ישר 10"/>
          <p:cNvCxnSpPr>
            <a:stCxn id="7" idx="6"/>
            <a:endCxn id="8" idx="2"/>
          </p:cNvCxnSpPr>
          <p:nvPr/>
        </p:nvCxnSpPr>
        <p:spPr>
          <a:xfrm flipV="1">
            <a:off x="2171700" y="1371600"/>
            <a:ext cx="1066800" cy="47625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12" name="מחבר חץ ישר 11"/>
          <p:cNvCxnSpPr>
            <a:stCxn id="8" idx="4"/>
            <a:endCxn id="9" idx="0"/>
          </p:cNvCxnSpPr>
          <p:nvPr/>
        </p:nvCxnSpPr>
        <p:spPr>
          <a:xfrm>
            <a:off x="3790950" y="1924050"/>
            <a:ext cx="1219200" cy="83820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13" name="מחבר חץ ישר 12"/>
          <p:cNvCxnSpPr>
            <a:stCxn id="9" idx="2"/>
            <a:endCxn id="10" idx="6"/>
          </p:cNvCxnSpPr>
          <p:nvPr/>
        </p:nvCxnSpPr>
        <p:spPr>
          <a:xfrm flipH="1">
            <a:off x="3200400" y="3314700"/>
            <a:ext cx="1257300" cy="87630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14" name="מחבר חץ ישר 13"/>
          <p:cNvCxnSpPr>
            <a:stCxn id="10" idx="0"/>
            <a:endCxn id="7" idx="4"/>
          </p:cNvCxnSpPr>
          <p:nvPr/>
        </p:nvCxnSpPr>
        <p:spPr>
          <a:xfrm flipH="1" flipV="1">
            <a:off x="1619250" y="2400300"/>
            <a:ext cx="1028700" cy="123825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sp>
        <p:nvSpPr>
          <p:cNvPr id="15" name="מלבן 14">
            <a:extLst>
              <a:ext uri="{FF2B5EF4-FFF2-40B4-BE49-F238E27FC236}">
                <a16:creationId xmlns:a16="http://schemas.microsoft.com/office/drawing/2014/main" id="{18FCC620-4659-490A-AD6C-110F4FF91365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114300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העלאה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24509BF7-661D-44F7-A573-7F50164F4BF8}"/>
              </a:ext>
            </a:extLst>
          </p:cNvPr>
          <p:cNvSpPr>
            <a:spLocks noGrp="1"/>
          </p:cNvSpPr>
          <p:nvPr/>
        </p:nvSpPr>
        <p:spPr>
          <a:xfrm>
            <a:off x="3162300" y="2047875"/>
            <a:ext cx="1238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ניתוח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5272F8C0-1CA4-4E22-B379-9E8F59B60B07}"/>
              </a:ext>
            </a:extLst>
          </p:cNvPr>
          <p:cNvSpPr>
            <a:spLocks noGrp="1"/>
          </p:cNvSpPr>
          <p:nvPr/>
        </p:nvSpPr>
        <p:spPr>
          <a:xfrm>
            <a:off x="4400550" y="3981450"/>
            <a:ext cx="1238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התאמה</a:t>
            </a: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A5A829F7-6983-446A-A4EB-2FA4E72EC28A}"/>
              </a:ext>
            </a:extLst>
          </p:cNvPr>
          <p:cNvSpPr>
            <a:spLocks noGrp="1"/>
          </p:cNvSpPr>
          <p:nvPr/>
        </p:nvSpPr>
        <p:spPr>
          <a:xfrm>
            <a:off x="1924050" y="4857750"/>
            <a:ext cx="14287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שיפור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C8ECD5EF-75F3-419D-A14B-39C5DF6CDAA7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F332D18E-0DA6-41AB-BC6C-C3A6CD85FA89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05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 UX </a:t>
            </a:r>
            <a:r>
              <a:rPr lang="he-IL" dirty="0"/>
              <a:t>שמסביר את ההחלטות  • </a:t>
            </a:r>
            <a:r>
              <a:rPr lang="en-US" dirty="0"/>
              <a:t>UI </a:t>
            </a:r>
            <a:r>
              <a:rPr lang="he-IL" dirty="0"/>
              <a:t> שמוביל לפעולה  •  ארכיטקטורה שניתנת להרחבה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C02C708D-B081-4768-946F-ECD95F10038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E53C5191-1FEA-43C5-8E43-F6C612A02E27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4676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D1C9D22E-6D04-4EEF-93B6-85FAB77996E9}"/>
              </a:ext>
            </a:extLst>
          </p:cNvPr>
          <p:cNvSpPr>
            <a:spLocks noGrp="1"/>
          </p:cNvSpPr>
          <p:nvPr/>
        </p:nvSpPr>
        <p:spPr>
          <a:xfrm>
            <a:off x="5238750" y="876300"/>
            <a:ext cx="6191251" cy="1428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הדרישה</a:t>
            </a:r>
            <a:endParaRPr dirty="0"/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B80E6F30-434E-4272-86E2-B15587FED980}"/>
              </a:ext>
            </a:extLst>
          </p:cNvPr>
          <p:cNvSpPr>
            <a:spLocks noGrp="1"/>
          </p:cNvSpPr>
          <p:nvPr/>
        </p:nvSpPr>
        <p:spPr>
          <a:xfrm>
            <a:off x="10001250" y="314325"/>
            <a:ext cx="1428750" cy="247650"/>
          </a:xfrm>
          <a:prstGeom prst="roundRect">
            <a:avLst>
              <a:gd name="adj" fmla="val 30769"/>
            </a:avLst>
          </a:prstGeom>
          <a:solidFill>
            <a:srgbClr val="153447"/>
          </a:solidFill>
          <a:ln w="0">
            <a:solidFill>
              <a:srgbClr val="153447"/>
            </a:solidFill>
          </a:ln>
        </p:spPr>
        <p:txBody>
          <a:bodyPr/>
          <a:lstStyle/>
          <a:p>
            <a:endParaRPr lang="he-IL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1133D66E-FB5A-4838-837C-31A0278D3BFC}"/>
              </a:ext>
            </a:extLst>
          </p:cNvPr>
          <p:cNvSpPr>
            <a:spLocks noGrp="1"/>
          </p:cNvSpPr>
          <p:nvPr/>
        </p:nvSpPr>
        <p:spPr>
          <a:xfrm>
            <a:off x="10001250" y="295275"/>
            <a:ext cx="14287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825" b="1">
                <a:solidFill>
                  <a:srgbClr val="35D0C7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THE REQUIREMENTS</a:t>
            </a:r>
            <a:endParaRPr dirty="0"/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C8ECD5EF-75F3-419D-A14B-39C5DF6CDAA7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F332D18E-0DA6-41AB-BC6C-C3A6CD85FA89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05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המוצר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C02C708D-B081-4768-946F-ECD95F10038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E53C5191-1FEA-43C5-8E43-F6C612A02E27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02</a:t>
            </a:r>
            <a:endParaRPr dirty="0"/>
          </a:p>
        </p:txBody>
      </p:sp>
      <p:sp>
        <p:nvSpPr>
          <p:cNvPr id="22" name="מלבן: פינות מעוגלות 21">
            <a:extLst>
              <a:ext uri="{FF2B5EF4-FFF2-40B4-BE49-F238E27FC236}">
                <a16:creationId xmlns:a16="http://schemas.microsoft.com/office/drawing/2014/main" id="{5877F56F-F77D-49A5-AA54-0BF42E2016DA}"/>
              </a:ext>
            </a:extLst>
          </p:cNvPr>
          <p:cNvSpPr>
            <a:spLocks noGrp="1"/>
          </p:cNvSpPr>
          <p:nvPr/>
        </p:nvSpPr>
        <p:spPr>
          <a:xfrm>
            <a:off x="8096250" y="2047875"/>
            <a:ext cx="3486150" cy="2914650"/>
          </a:xfrm>
          <a:prstGeom prst="roundRect">
            <a:avLst>
              <a:gd name="adj" fmla="val 2000"/>
            </a:avLst>
          </a:prstGeom>
          <a:solidFill>
            <a:srgbClr val="10283A"/>
          </a:solidFill>
          <a:ln w="9525">
            <a:solidFill>
              <a:srgbClr val="2D4B5D"/>
            </a:solidFill>
          </a:ln>
        </p:spPr>
        <p:txBody>
          <a:bodyPr/>
          <a:lstStyle/>
          <a:p>
            <a:pPr algn="ctr" rtl="1"/>
            <a:r>
              <a:rPr lang="he-IL" sz="1400" b="1" dirty="0">
                <a:solidFill>
                  <a:schemeClr val="bg1"/>
                </a:solidFill>
              </a:rPr>
              <a:t>יכולות מרכזיות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endParaRPr lang="he-IL" sz="1200" dirty="0">
              <a:solidFill>
                <a:schemeClr val="bg1"/>
              </a:solidFill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he-IL" sz="1200" dirty="0">
                <a:solidFill>
                  <a:schemeClr val="bg1"/>
                </a:solidFill>
              </a:rPr>
              <a:t>חילוץ וניתוח טקסט מקובצי קורות חיים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endParaRPr lang="he-IL" sz="1200" dirty="0">
              <a:solidFill>
                <a:schemeClr val="bg1"/>
              </a:solidFill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he-IL" sz="1200" dirty="0">
                <a:solidFill>
                  <a:schemeClr val="bg1"/>
                </a:solidFill>
              </a:rPr>
              <a:t>איתור ושליפת משרות תואמות מהרשת</a:t>
            </a:r>
          </a:p>
          <a:p>
            <a:pPr algn="r" rtl="1"/>
            <a:endParaRPr lang="he-IL" sz="1200" dirty="0">
              <a:solidFill>
                <a:schemeClr val="bg1"/>
              </a:solidFill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he-IL" sz="1200" dirty="0">
                <a:solidFill>
                  <a:schemeClr val="bg1"/>
                </a:solidFill>
              </a:rPr>
              <a:t>אופטימיזציה של קורות החיים בהתאם למשרה נבחרת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endParaRPr lang="he-IL" sz="1200" dirty="0">
              <a:solidFill>
                <a:schemeClr val="bg1"/>
              </a:solidFill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he-IL" sz="1200" dirty="0">
                <a:solidFill>
                  <a:schemeClr val="bg1"/>
                </a:solidFill>
              </a:rPr>
              <a:t>ייצוא סופי לקובץ </a:t>
            </a:r>
            <a:r>
              <a:rPr lang="en-US" sz="1200" dirty="0">
                <a:solidFill>
                  <a:schemeClr val="bg1"/>
                </a:solidFill>
              </a:rPr>
              <a:t> PDF </a:t>
            </a:r>
            <a:r>
              <a:rPr lang="he-IL" sz="1200" dirty="0">
                <a:solidFill>
                  <a:schemeClr val="bg1"/>
                </a:solidFill>
              </a:rPr>
              <a:t>תואם משרה</a:t>
            </a:r>
          </a:p>
        </p:txBody>
      </p:sp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07B3DF52-6CAB-4AC5-B8A5-4B7059D85B18}"/>
              </a:ext>
            </a:extLst>
          </p:cNvPr>
          <p:cNvSpPr>
            <a:spLocks noGrp="1"/>
          </p:cNvSpPr>
          <p:nvPr/>
        </p:nvSpPr>
        <p:spPr>
          <a:xfrm>
            <a:off x="4291013" y="2047875"/>
            <a:ext cx="3486150" cy="2914650"/>
          </a:xfrm>
          <a:prstGeom prst="roundRect">
            <a:avLst>
              <a:gd name="adj" fmla="val 2000"/>
            </a:avLst>
          </a:prstGeom>
          <a:solidFill>
            <a:srgbClr val="10283A"/>
          </a:solidFill>
          <a:ln w="9525">
            <a:solidFill>
              <a:srgbClr val="2D4B5D"/>
            </a:solidFill>
          </a:ln>
        </p:spPr>
        <p:txBody>
          <a:bodyPr/>
          <a:lstStyle/>
          <a:p>
            <a:pPr algn="ctr" rtl="1"/>
            <a:r>
              <a:rPr lang="he-IL" sz="1400" b="1" dirty="0">
                <a:solidFill>
                  <a:schemeClr val="bg1"/>
                </a:solidFill>
              </a:rPr>
              <a:t>הפתרון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endParaRPr lang="he-IL" sz="1200" dirty="0">
              <a:solidFill>
                <a:schemeClr val="bg1"/>
              </a:solidFill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he-IL" sz="1200" dirty="0">
                <a:solidFill>
                  <a:schemeClr val="bg1"/>
                </a:solidFill>
              </a:rPr>
              <a:t>מערכת חכמה המנתחת קורות חיים באמצעות מודל </a:t>
            </a:r>
            <a:r>
              <a:rPr lang="en-US" sz="1200" dirty="0">
                <a:solidFill>
                  <a:schemeClr val="bg1"/>
                </a:solidFill>
              </a:rPr>
              <a:t>AI </a:t>
            </a:r>
            <a:r>
              <a:rPr lang="he-IL" sz="1200" dirty="0">
                <a:solidFill>
                  <a:schemeClr val="bg1"/>
                </a:solidFill>
              </a:rPr>
              <a:t>של </a:t>
            </a:r>
            <a:r>
              <a:rPr lang="en-US" sz="1200" dirty="0">
                <a:solidFill>
                  <a:schemeClr val="bg1"/>
                </a:solidFill>
              </a:rPr>
              <a:t>Google Gemini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he-IL" sz="1200" dirty="0">
                <a:solidFill>
                  <a:schemeClr val="bg1"/>
                </a:solidFill>
              </a:rPr>
              <a:t>אוטומציה מלאה</a:t>
            </a:r>
            <a:r>
              <a:rPr lang="en-US" sz="1200" dirty="0">
                <a:solidFill>
                  <a:schemeClr val="bg1"/>
                </a:solidFill>
              </a:rPr>
              <a:t>(E2E) </a:t>
            </a:r>
            <a:r>
              <a:rPr lang="he-IL" sz="1200" dirty="0">
                <a:solidFill>
                  <a:schemeClr val="bg1"/>
                </a:solidFill>
              </a:rPr>
              <a:t>של תהליך ההשמה, מניתוח המסמך ועד לשליפת המשרות מהרשת</a:t>
            </a:r>
          </a:p>
        </p:txBody>
      </p:sp>
      <p:sp>
        <p:nvSpPr>
          <p:cNvPr id="27" name="מלבן: פינות מעוגלות 26">
            <a:extLst>
              <a:ext uri="{FF2B5EF4-FFF2-40B4-BE49-F238E27FC236}">
                <a16:creationId xmlns:a16="http://schemas.microsoft.com/office/drawing/2014/main" id="{AC97AEFC-01B3-4435-BB9A-19DD065EC88A}"/>
              </a:ext>
            </a:extLst>
          </p:cNvPr>
          <p:cNvSpPr>
            <a:spLocks noGrp="1"/>
          </p:cNvSpPr>
          <p:nvPr/>
        </p:nvSpPr>
        <p:spPr>
          <a:xfrm>
            <a:off x="485777" y="2047875"/>
            <a:ext cx="3486150" cy="2914650"/>
          </a:xfrm>
          <a:prstGeom prst="roundRect">
            <a:avLst>
              <a:gd name="adj" fmla="val 2000"/>
            </a:avLst>
          </a:prstGeom>
          <a:solidFill>
            <a:srgbClr val="10283A"/>
          </a:solidFill>
          <a:ln w="9525">
            <a:solidFill>
              <a:srgbClr val="2D4B5D"/>
            </a:solidFill>
          </a:ln>
        </p:spPr>
        <p:txBody>
          <a:bodyPr/>
          <a:lstStyle/>
          <a:p>
            <a:pPr algn="ctr" rtl="1"/>
            <a:r>
              <a:rPr lang="he-IL" sz="1400" b="1" dirty="0">
                <a:solidFill>
                  <a:schemeClr val="bg1"/>
                </a:solidFill>
              </a:rPr>
              <a:t>הצורך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endParaRPr lang="he-IL" sz="1200" dirty="0">
              <a:solidFill>
                <a:schemeClr val="bg1"/>
              </a:solidFill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he-IL" sz="1200" dirty="0">
                <a:solidFill>
                  <a:schemeClr val="bg1"/>
                </a:solidFill>
              </a:rPr>
              <a:t>קושי באיתור משרות המותאמות לפרופיל המועמד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endParaRPr lang="he-IL" sz="1200" dirty="0">
              <a:solidFill>
                <a:schemeClr val="bg1"/>
              </a:solidFill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he-IL" sz="1200" dirty="0">
                <a:solidFill>
                  <a:schemeClr val="bg1"/>
                </a:solidFill>
              </a:rPr>
              <a:t>תהליך ידני, איטי ומייגע של התאמת קורות חיים לכל משרה בנפרד</a:t>
            </a:r>
          </a:p>
          <a:p>
            <a:pPr algn="r" rtl="1"/>
            <a:endParaRPr lang="he-IL" sz="1200" dirty="0">
              <a:solidFill>
                <a:schemeClr val="bg1"/>
              </a:solidFill>
            </a:endParaRP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he-IL" sz="1200" dirty="0">
                <a:solidFill>
                  <a:schemeClr val="bg1"/>
                </a:solidFill>
              </a:rPr>
              <a:t>חוסר מודעות של מועמדים לפערי כישורים (</a:t>
            </a:r>
            <a:r>
              <a:rPr lang="en-US" sz="1200" dirty="0">
                <a:solidFill>
                  <a:schemeClr val="bg1"/>
                </a:solidFill>
              </a:rPr>
              <a:t>Skills Gap</a:t>
            </a:r>
            <a:r>
              <a:rPr lang="he-IL" sz="1200" dirty="0">
                <a:solidFill>
                  <a:schemeClr val="bg1"/>
                </a:solidFill>
              </a:rPr>
              <a:t>) בין </a:t>
            </a:r>
            <a:r>
              <a:rPr lang="he-IL" sz="1200" dirty="0" err="1">
                <a:solidFill>
                  <a:schemeClr val="bg1"/>
                </a:solidFill>
              </a:rPr>
              <a:t>הקו"ח</a:t>
            </a:r>
            <a:r>
              <a:rPr lang="he-IL" sz="1200" dirty="0">
                <a:solidFill>
                  <a:schemeClr val="bg1"/>
                </a:solidFill>
              </a:rPr>
              <a:t> למשרה</a:t>
            </a:r>
          </a:p>
        </p:txBody>
      </p:sp>
    </p:spTree>
    <p:extLst>
      <p:ext uri="{BB962C8B-B14F-4D97-AF65-F5344CB8AC3E}">
        <p14:creationId xmlns:p14="http://schemas.microsoft.com/office/powerpoint/2010/main" val="1926939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-marker">
            <a:extLst>
              <a:ext uri="{FF2B5EF4-FFF2-40B4-BE49-F238E27FC236}">
                <a16:creationId xmlns:a16="http://schemas.microsoft.com/office/drawing/2014/main" id="{7DC08D30-BFF4-45A7-AC78-FCDFA25E4FC8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61D1E621-C8CC-47BB-BA39-E424E337EAE1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THE PROBLEM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586CA3FF-480F-42DA-8381-4E07C5947F1E}"/>
              </a:ext>
            </a:extLst>
          </p:cNvPr>
          <p:cNvSpPr>
            <a:spLocks noGrp="1"/>
          </p:cNvSpPr>
          <p:nvPr/>
        </p:nvSpPr>
        <p:spPr>
          <a:xfrm>
            <a:off x="5429250" y="609600"/>
            <a:ext cx="6096000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 fontScale="99206"/>
          </a:bodyPr>
          <a:lstStyle/>
          <a:p>
            <a: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הבעיה</a:t>
            </a:r>
            <a:r>
              <a:rPr dirty="0"/>
              <a:t> </a:t>
            </a:r>
            <a:r>
              <a:rPr dirty="0" err="1"/>
              <a:t>האמיתית</a:t>
            </a:r>
            <a:r>
              <a:rPr dirty="0"/>
              <a:t> אינה </a:t>
            </a:r>
            <a:r>
              <a:rPr dirty="0" err="1"/>
              <a:t>למצוא</a:t>
            </a:r>
            <a:r>
              <a:rPr dirty="0"/>
              <a:t> </a:t>
            </a:r>
            <a:r>
              <a:rPr dirty="0" err="1"/>
              <a:t>משרות</a:t>
            </a:r>
            <a:r>
              <a:rPr dirty="0"/>
              <a:t>.</a:t>
            </a:r>
          </a:p>
          <a:p>
            <a: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אלא </a:t>
            </a:r>
            <a:r>
              <a:rPr dirty="0" err="1"/>
              <a:t>להבין</a:t>
            </a:r>
            <a:r>
              <a:rPr dirty="0"/>
              <a:t> </a:t>
            </a:r>
            <a:r>
              <a:rPr dirty="0" err="1"/>
              <a:t>למה</a:t>
            </a:r>
            <a:r>
              <a:rPr dirty="0"/>
              <a:t> </a:t>
            </a:r>
            <a:r>
              <a:rPr dirty="0" err="1"/>
              <a:t>הן</a:t>
            </a:r>
            <a:r>
              <a:rPr dirty="0"/>
              <a:t> </a:t>
            </a:r>
            <a:r>
              <a:rPr dirty="0" err="1"/>
              <a:t>מתאימות</a:t>
            </a:r>
            <a:r>
              <a:rPr dirty="0"/>
              <a:t>.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E70D2B92-4EF1-4CD9-85E4-42745AF70D95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953000" cy="3857625"/>
          </a:xfrm>
          <a:prstGeom prst="roundRect">
            <a:avLst>
              <a:gd name="adj" fmla="val 1975"/>
            </a:avLst>
          </a:prstGeom>
          <a:solidFill>
            <a:srgbClr val="10283A"/>
          </a:solidFill>
          <a:ln w="9525">
            <a:solidFill>
              <a:srgbClr val="29495B"/>
            </a:solidFill>
          </a:ln>
        </p:spPr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8974362-BEEB-4214-BF81-819BA018E1BB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419100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FFB45C"/>
                </a:solidFill>
                <a:latin typeface="Arial"/>
                <a:ea typeface="Arial"/>
                <a:cs typeface="Arial"/>
              </a:defRPr>
            </a:pPr>
            <a:r>
              <a:t>המסע המפוצל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86E6BABC-5FBC-4A70-AB28-C911A291D537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1428750" cy="514350"/>
          </a:xfrm>
          <a:prstGeom prst="roundRect">
            <a:avLst>
              <a:gd name="adj" fmla="val 14815"/>
            </a:avLst>
          </a:prstGeom>
          <a:solidFill>
            <a:srgbClr val="F5F8FA"/>
          </a:solidFill>
          <a:ln w="9525">
            <a:solidFill>
              <a:srgbClr val="52708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1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קורות חיים</a:t>
            </a: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1B4C43AC-9A19-4097-841A-374DD50EE8EF}"/>
              </a:ext>
            </a:extLst>
          </p:cNvPr>
          <p:cNvSpPr>
            <a:spLocks noGrp="1"/>
          </p:cNvSpPr>
          <p:nvPr/>
        </p:nvSpPr>
        <p:spPr>
          <a:xfrm>
            <a:off x="1000125" y="2857500"/>
            <a:ext cx="1428750" cy="514350"/>
          </a:xfrm>
          <a:prstGeom prst="roundRect">
            <a:avLst>
              <a:gd name="adj" fmla="val 14815"/>
            </a:avLst>
          </a:prstGeom>
          <a:solidFill>
            <a:srgbClr val="153447"/>
          </a:solidFill>
          <a:ln w="9525">
            <a:solidFill>
              <a:srgbClr val="52708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לוחות משרות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C3E70914-C88C-4BFF-85C0-C45464FBAC06}"/>
              </a:ext>
            </a:extLst>
          </p:cNvPr>
          <p:cNvSpPr>
            <a:spLocks noGrp="1"/>
          </p:cNvSpPr>
          <p:nvPr/>
        </p:nvSpPr>
        <p:spPr>
          <a:xfrm>
            <a:off x="3714750" y="4333875"/>
            <a:ext cx="1428750" cy="514350"/>
          </a:xfrm>
          <a:prstGeom prst="roundRect">
            <a:avLst>
              <a:gd name="adj" fmla="val 14815"/>
            </a:avLst>
          </a:prstGeom>
          <a:solidFill>
            <a:srgbClr val="153447"/>
          </a:solidFill>
          <a:ln w="9525">
            <a:solidFill>
              <a:srgbClr val="52708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פערי כישורים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A2100727-53B3-42B5-809A-46402E2FD3AA}"/>
              </a:ext>
            </a:extLst>
          </p:cNvPr>
          <p:cNvSpPr>
            <a:spLocks noGrp="1"/>
          </p:cNvSpPr>
          <p:nvPr/>
        </p:nvSpPr>
        <p:spPr>
          <a:xfrm>
            <a:off x="1000125" y="4333875"/>
            <a:ext cx="1428750" cy="514350"/>
          </a:xfrm>
          <a:prstGeom prst="roundRect">
            <a:avLst>
              <a:gd name="adj" fmla="val 14815"/>
            </a:avLst>
          </a:prstGeom>
          <a:solidFill>
            <a:srgbClr val="153447"/>
          </a:solidFill>
          <a:ln w="9525">
            <a:solidFill>
              <a:srgbClr val="52708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עריכה ידנית</a:t>
            </a:r>
          </a:p>
        </p:txBody>
      </p:sp>
      <p:cxnSp>
        <p:nvCxnSpPr>
          <p:cNvPr id="10" name="מחבר חץ ישר 9"/>
          <p:cNvCxnSpPr>
            <a:stCxn id="6" idx="1"/>
            <a:endCxn id="7" idx="3"/>
          </p:cNvCxnSpPr>
          <p:nvPr/>
        </p:nvCxnSpPr>
        <p:spPr>
          <a:xfrm flipH="1">
            <a:off x="2428875" y="3114675"/>
            <a:ext cx="1285875" cy="0"/>
          </a:xfrm>
          <a:prstGeom prst="straightConnector1">
            <a:avLst/>
          </a:prstGeom>
          <a:ln w="19050">
            <a:solidFill>
              <a:srgbClr val="617E8D"/>
            </a:solidFill>
            <a:prstDash val="dash"/>
          </a:ln>
        </p:spPr>
      </p:cxnSp>
      <p:cxnSp>
        <p:nvCxnSpPr>
          <p:cNvPr id="11" name="מחבר חץ ישר 10"/>
          <p:cNvCxnSpPr>
            <a:stCxn id="6" idx="2"/>
            <a:endCxn id="8" idx="0"/>
          </p:cNvCxnSpPr>
          <p:nvPr/>
        </p:nvCxnSpPr>
        <p:spPr>
          <a:xfrm>
            <a:off x="4429125" y="3371850"/>
            <a:ext cx="0" cy="962025"/>
          </a:xfrm>
          <a:prstGeom prst="straightConnector1">
            <a:avLst/>
          </a:prstGeom>
          <a:ln w="19050">
            <a:solidFill>
              <a:srgbClr val="617E8D"/>
            </a:solidFill>
            <a:prstDash val="dash"/>
          </a:ln>
        </p:spPr>
      </p:cxnSp>
      <p:cxnSp>
        <p:nvCxnSpPr>
          <p:cNvPr id="12" name="מחבר חץ ישר 11"/>
          <p:cNvCxnSpPr>
            <a:stCxn id="8" idx="1"/>
            <a:endCxn id="9" idx="3"/>
          </p:cNvCxnSpPr>
          <p:nvPr/>
        </p:nvCxnSpPr>
        <p:spPr>
          <a:xfrm flipH="1">
            <a:off x="2428875" y="4591050"/>
            <a:ext cx="1285875" cy="0"/>
          </a:xfrm>
          <a:prstGeom prst="straightConnector1">
            <a:avLst/>
          </a:prstGeom>
          <a:ln w="19050">
            <a:solidFill>
              <a:srgbClr val="617E8D"/>
            </a:solidFill>
            <a:prstDash val="dash"/>
          </a:ln>
        </p:spPr>
      </p:cxnSp>
      <p:cxnSp>
        <p:nvCxnSpPr>
          <p:cNvPr id="13" name="מחבר חץ ישר 12"/>
          <p:cNvCxnSpPr>
            <a:stCxn id="7" idx="2"/>
            <a:endCxn id="9" idx="0"/>
          </p:cNvCxnSpPr>
          <p:nvPr/>
        </p:nvCxnSpPr>
        <p:spPr>
          <a:xfrm>
            <a:off x="1714500" y="3371850"/>
            <a:ext cx="0" cy="962025"/>
          </a:xfrm>
          <a:prstGeom prst="straightConnector1">
            <a:avLst/>
          </a:prstGeom>
          <a:ln w="19050">
            <a:solidFill>
              <a:srgbClr val="617E8D"/>
            </a:solidFill>
            <a:prstDash val="dash"/>
          </a:ln>
        </p:spPr>
      </p:cxnSp>
      <p:sp>
        <p:nvSpPr>
          <p:cNvPr id="14" name="מלבן 13">
            <a:extLst>
              <a:ext uri="{FF2B5EF4-FFF2-40B4-BE49-F238E27FC236}">
                <a16:creationId xmlns:a16="http://schemas.microsoft.com/office/drawing/2014/main" id="{62ACA961-6BE5-435D-9316-EE399006BFA1}"/>
              </a:ext>
            </a:extLst>
          </p:cNvPr>
          <p:cNvSpPr>
            <a:spLocks noGrp="1"/>
          </p:cNvSpPr>
          <p:nvPr/>
        </p:nvSpPr>
        <p:spPr>
          <a:xfrm>
            <a:off x="895350" y="5314950"/>
            <a:ext cx="428625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התוצאה: הרבה מידע, מעט ביטחון בהחלטה.</a:t>
            </a:r>
            <a:endParaRPr dirty="0"/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5A4EE9EF-BB88-4257-A519-A4D4EE1F265B}"/>
              </a:ext>
            </a:extLst>
          </p:cNvPr>
          <p:cNvSpPr>
            <a:spLocks noGrp="1"/>
          </p:cNvSpPr>
          <p:nvPr/>
        </p:nvSpPr>
        <p:spPr>
          <a:xfrm>
            <a:off x="5924550" y="2000250"/>
            <a:ext cx="5657850" cy="3857625"/>
          </a:xfrm>
          <a:prstGeom prst="roundRect">
            <a:avLst>
              <a:gd name="adj" fmla="val 1975"/>
            </a:avLst>
          </a:prstGeom>
          <a:solidFill>
            <a:srgbClr val="F5F8FA"/>
          </a:solidFill>
          <a:ln w="9525">
            <a:solidFill>
              <a:srgbClr val="C4D6DC"/>
            </a:solidFill>
          </a:ln>
        </p:spPr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A6A04B8A-A5DF-40F5-A12C-BD809EE2F081}"/>
              </a:ext>
            </a:extLst>
          </p:cNvPr>
          <p:cNvSpPr>
            <a:spLocks noGrp="1"/>
          </p:cNvSpPr>
          <p:nvPr/>
        </p:nvSpPr>
        <p:spPr>
          <a:xfrm>
            <a:off x="6229350" y="2190750"/>
            <a:ext cx="48577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המסע המונחה</a:t>
            </a:r>
          </a:p>
        </p:txBody>
      </p:sp>
      <p:sp>
        <p:nvSpPr>
          <p:cNvPr id="17" name="אליפסה 16">
            <a:extLst>
              <a:ext uri="{FF2B5EF4-FFF2-40B4-BE49-F238E27FC236}">
                <a16:creationId xmlns:a16="http://schemas.microsoft.com/office/drawing/2014/main" id="{22CF86DA-1B38-4CE8-8B7D-6C80ACD2753E}"/>
              </a:ext>
            </a:extLst>
          </p:cNvPr>
          <p:cNvSpPr>
            <a:spLocks noGrp="1"/>
          </p:cNvSpPr>
          <p:nvPr/>
        </p:nvSpPr>
        <p:spPr>
          <a:xfrm>
            <a:off x="10382250" y="2762250"/>
            <a:ext cx="361950" cy="3619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82A59936-C39C-43FB-AE03-095F8595361C}"/>
              </a:ext>
            </a:extLst>
          </p:cNvPr>
          <p:cNvSpPr>
            <a:spLocks noGrp="1"/>
          </p:cNvSpPr>
          <p:nvPr/>
        </p:nvSpPr>
        <p:spPr>
          <a:xfrm>
            <a:off x="7429500" y="2733675"/>
            <a:ext cx="2762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039"/>
          </a:bodyPr>
          <a:lstStyle/>
          <a:p>
            <a:pPr algn="r" rtl="1">
              <a:defRPr sz="12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העלאת קורות חיים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6E874E1D-0F26-44EF-B355-7F057C9C4CC8}"/>
              </a:ext>
            </a:extLst>
          </p:cNvPr>
          <p:cNvSpPr>
            <a:spLocks noGrp="1"/>
          </p:cNvSpPr>
          <p:nvPr/>
        </p:nvSpPr>
        <p:spPr>
          <a:xfrm>
            <a:off x="6477000" y="3019425"/>
            <a:ext cx="371475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C7480"/>
                </a:solidFill>
                <a:latin typeface="Arial"/>
                <a:ea typeface="Arial"/>
                <a:cs typeface="Arial"/>
              </a:defRPr>
            </a:pPr>
            <a:r>
              <a:t>פעולה אחת וברורה</a:t>
            </a: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45CAE6A9-2294-44F7-97CD-ECCE18FA343A}"/>
              </a:ext>
            </a:extLst>
          </p:cNvPr>
          <p:cNvSpPr>
            <a:spLocks noGrp="1"/>
          </p:cNvSpPr>
          <p:nvPr/>
        </p:nvSpPr>
        <p:spPr>
          <a:xfrm>
            <a:off x="10553700" y="3124200"/>
            <a:ext cx="19050" cy="304800"/>
          </a:xfrm>
          <a:prstGeom prst="rect">
            <a:avLst/>
          </a:prstGeom>
          <a:solidFill>
            <a:srgbClr val="AFC8CF"/>
          </a:solidFill>
          <a:ln w="0">
            <a:solidFill>
              <a:srgbClr val="AFC8CF"/>
            </a:solidFill>
          </a:ln>
        </p:spPr>
      </p:sp>
      <p:sp>
        <p:nvSpPr>
          <p:cNvPr id="21" name="אליפסה 20">
            <a:extLst>
              <a:ext uri="{FF2B5EF4-FFF2-40B4-BE49-F238E27FC236}">
                <a16:creationId xmlns:a16="http://schemas.microsoft.com/office/drawing/2014/main" id="{BE37E611-F2CE-4561-AA0B-65B1F447F0F0}"/>
              </a:ext>
            </a:extLst>
          </p:cNvPr>
          <p:cNvSpPr>
            <a:spLocks noGrp="1"/>
          </p:cNvSpPr>
          <p:nvPr/>
        </p:nvSpPr>
        <p:spPr>
          <a:xfrm>
            <a:off x="10382250" y="3429000"/>
            <a:ext cx="361950" cy="36195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BE574BA8-1455-444C-982C-4420F979F36B}"/>
              </a:ext>
            </a:extLst>
          </p:cNvPr>
          <p:cNvSpPr>
            <a:spLocks noGrp="1"/>
          </p:cNvSpPr>
          <p:nvPr/>
        </p:nvSpPr>
        <p:spPr>
          <a:xfrm>
            <a:off x="7429500" y="3400425"/>
            <a:ext cx="2762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039"/>
          </a:bodyPr>
          <a:lstStyle/>
          <a:p>
            <a:pPr algn="r" rtl="1">
              <a:defRPr sz="12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הבנת היכולות</a:t>
            </a: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AD7D7BF6-5957-4924-9BB2-D7A3AD9F9D92}"/>
              </a:ext>
            </a:extLst>
          </p:cNvPr>
          <p:cNvSpPr>
            <a:spLocks noGrp="1"/>
          </p:cNvSpPr>
          <p:nvPr/>
        </p:nvSpPr>
        <p:spPr>
          <a:xfrm>
            <a:off x="6477000" y="3686175"/>
            <a:ext cx="371475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C7480"/>
                </a:solidFill>
                <a:latin typeface="Arial"/>
                <a:ea typeface="Arial"/>
                <a:cs typeface="Arial"/>
              </a:defRPr>
            </a:pPr>
            <a:r>
              <a:t>פירוק הכישורים לשפה שימושית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E06846DC-9458-4D68-BD80-0B7FBA8938A2}"/>
              </a:ext>
            </a:extLst>
          </p:cNvPr>
          <p:cNvSpPr>
            <a:spLocks noGrp="1"/>
          </p:cNvSpPr>
          <p:nvPr/>
        </p:nvSpPr>
        <p:spPr>
          <a:xfrm>
            <a:off x="10553700" y="3790950"/>
            <a:ext cx="19050" cy="304800"/>
          </a:xfrm>
          <a:prstGeom prst="rect">
            <a:avLst/>
          </a:prstGeom>
          <a:solidFill>
            <a:srgbClr val="AFC8CF"/>
          </a:solidFill>
          <a:ln w="0">
            <a:solidFill>
              <a:srgbClr val="AFC8CF"/>
            </a:solidFill>
          </a:ln>
        </p:spPr>
      </p:sp>
      <p:sp>
        <p:nvSpPr>
          <p:cNvPr id="25" name="אליפסה 24">
            <a:extLst>
              <a:ext uri="{FF2B5EF4-FFF2-40B4-BE49-F238E27FC236}">
                <a16:creationId xmlns:a16="http://schemas.microsoft.com/office/drawing/2014/main" id="{98D69C6A-F7E6-428B-893B-8EABD07B7280}"/>
              </a:ext>
            </a:extLst>
          </p:cNvPr>
          <p:cNvSpPr>
            <a:spLocks noGrp="1"/>
          </p:cNvSpPr>
          <p:nvPr/>
        </p:nvSpPr>
        <p:spPr>
          <a:xfrm>
            <a:off x="10382250" y="4095750"/>
            <a:ext cx="361950" cy="36195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35654CF4-759B-4695-882C-2282DB135530}"/>
              </a:ext>
            </a:extLst>
          </p:cNvPr>
          <p:cNvSpPr>
            <a:spLocks noGrp="1"/>
          </p:cNvSpPr>
          <p:nvPr/>
        </p:nvSpPr>
        <p:spPr>
          <a:xfrm>
            <a:off x="7429500" y="4067175"/>
            <a:ext cx="2762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039"/>
          </a:bodyPr>
          <a:lstStyle/>
          <a:p>
            <a:pPr algn="r" rtl="1">
              <a:defRPr sz="12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בחירת משרה</a:t>
            </a: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07335F16-BBB9-43C3-AB82-669F540EEEF4}"/>
              </a:ext>
            </a:extLst>
          </p:cNvPr>
          <p:cNvSpPr>
            <a:spLocks noGrp="1"/>
          </p:cNvSpPr>
          <p:nvPr/>
        </p:nvSpPr>
        <p:spPr>
          <a:xfrm>
            <a:off x="6477000" y="4352925"/>
            <a:ext cx="371475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C7480"/>
                </a:solidFill>
                <a:latin typeface="Arial"/>
                <a:ea typeface="Arial"/>
                <a:cs typeface="Arial"/>
              </a:defRPr>
            </a:pPr>
            <a:r>
              <a:t>הסבר התאמה ולא רק רשימה</a:t>
            </a:r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84387748-792D-4EA7-B616-D2E034E06E84}"/>
              </a:ext>
            </a:extLst>
          </p:cNvPr>
          <p:cNvSpPr>
            <a:spLocks noGrp="1"/>
          </p:cNvSpPr>
          <p:nvPr/>
        </p:nvSpPr>
        <p:spPr>
          <a:xfrm>
            <a:off x="10553700" y="4457700"/>
            <a:ext cx="19050" cy="304800"/>
          </a:xfrm>
          <a:prstGeom prst="rect">
            <a:avLst/>
          </a:prstGeom>
          <a:solidFill>
            <a:srgbClr val="AFC8CF"/>
          </a:solidFill>
          <a:ln w="0">
            <a:solidFill>
              <a:srgbClr val="AFC8CF"/>
            </a:solidFill>
          </a:ln>
        </p:spPr>
      </p:sp>
      <p:sp>
        <p:nvSpPr>
          <p:cNvPr id="29" name="אליפסה 28">
            <a:extLst>
              <a:ext uri="{FF2B5EF4-FFF2-40B4-BE49-F238E27FC236}">
                <a16:creationId xmlns:a16="http://schemas.microsoft.com/office/drawing/2014/main" id="{7FDF621C-C835-4189-B505-268C79B60264}"/>
              </a:ext>
            </a:extLst>
          </p:cNvPr>
          <p:cNvSpPr>
            <a:spLocks noGrp="1"/>
          </p:cNvSpPr>
          <p:nvPr/>
        </p:nvSpPr>
        <p:spPr>
          <a:xfrm>
            <a:off x="10382250" y="4762500"/>
            <a:ext cx="361950" cy="3619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E2D9E4D1-E986-4F12-B1A3-EB9BF80D7119}"/>
              </a:ext>
            </a:extLst>
          </p:cNvPr>
          <p:cNvSpPr>
            <a:spLocks noGrp="1"/>
          </p:cNvSpPr>
          <p:nvPr/>
        </p:nvSpPr>
        <p:spPr>
          <a:xfrm>
            <a:off x="7429500" y="4733925"/>
            <a:ext cx="2762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039"/>
          </a:bodyPr>
          <a:lstStyle/>
          <a:p>
            <a:pPr algn="r" rtl="1">
              <a:defRPr sz="12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שיפור ממוקד</a:t>
            </a:r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3BE449C9-DB94-4983-A3F9-FA5EC8A522CE}"/>
              </a:ext>
            </a:extLst>
          </p:cNvPr>
          <p:cNvSpPr>
            <a:spLocks noGrp="1"/>
          </p:cNvSpPr>
          <p:nvPr/>
        </p:nvSpPr>
        <p:spPr>
          <a:xfrm>
            <a:off x="6477000" y="5019675"/>
            <a:ext cx="371475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C7480"/>
                </a:solidFill>
                <a:latin typeface="Arial"/>
                <a:ea typeface="Arial"/>
                <a:cs typeface="Arial"/>
              </a:defRPr>
            </a:pPr>
            <a:r>
              <a:t>קובץ מוכן להמשך התהליך</a:t>
            </a:r>
          </a:p>
        </p:txBody>
      </p:sp>
      <p:sp>
        <p:nvSpPr>
          <p:cNvPr id="32" name="מלבן: פינות מעוגלות 31">
            <a:extLst>
              <a:ext uri="{FF2B5EF4-FFF2-40B4-BE49-F238E27FC236}">
                <a16:creationId xmlns:a16="http://schemas.microsoft.com/office/drawing/2014/main" id="{067C45CB-E10A-40EB-9E31-977E2B3C05DF}"/>
              </a:ext>
            </a:extLst>
          </p:cNvPr>
          <p:cNvSpPr>
            <a:spLocks noGrp="1"/>
          </p:cNvSpPr>
          <p:nvPr/>
        </p:nvSpPr>
        <p:spPr>
          <a:xfrm>
            <a:off x="6477000" y="5381625"/>
            <a:ext cx="2038350" cy="285750"/>
          </a:xfrm>
          <a:prstGeom prst="roundRect">
            <a:avLst>
              <a:gd name="adj" fmla="val 26667"/>
            </a:avLst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הערך</a:t>
            </a:r>
            <a:r>
              <a:rPr dirty="0"/>
              <a:t>:</a:t>
            </a:r>
            <a:r>
              <a:rPr lang="he-IL" dirty="0"/>
              <a:t> </a:t>
            </a:r>
            <a:r>
              <a:rPr dirty="0" err="1"/>
              <a:t>החלטה</a:t>
            </a:r>
            <a:r>
              <a:rPr dirty="0"/>
              <a:t> </a:t>
            </a:r>
            <a:r>
              <a:rPr dirty="0" err="1"/>
              <a:t>מוסברת</a:t>
            </a:r>
            <a:endParaRPr dirty="0"/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E27D4DFB-2360-41B1-A9BF-A84AEF80ABB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D1A78C8B-002D-486D-980B-257203BB4204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129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kicker-marker">
            <a:extLst>
              <a:ext uri="{FF2B5EF4-FFF2-40B4-BE49-F238E27FC236}">
                <a16:creationId xmlns:a16="http://schemas.microsoft.com/office/drawing/2014/main" id="{9536D167-DE1E-45B1-BF61-107007F01E6E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5A347F45-BB79-4265-ACD2-36D7255A51EE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PRODUCT FLOW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0C8D40B-0A47-48DE-B09C-5E571A48800A}"/>
              </a:ext>
            </a:extLst>
          </p:cNvPr>
          <p:cNvSpPr>
            <a:spLocks noGrp="1"/>
          </p:cNvSpPr>
          <p:nvPr/>
        </p:nvSpPr>
        <p:spPr>
          <a:xfrm>
            <a:off x="3622431" y="609600"/>
            <a:ext cx="7902819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 fontScale="99206"/>
          </a:bodyPr>
          <a:lstStyle/>
          <a:p>
            <a: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העלאה</a:t>
            </a:r>
            <a:r>
              <a:rPr dirty="0"/>
              <a:t> </a:t>
            </a:r>
            <a:r>
              <a:rPr dirty="0" err="1"/>
              <a:t>אחת</a:t>
            </a:r>
            <a:r>
              <a:rPr dirty="0"/>
              <a:t> </a:t>
            </a:r>
            <a:r>
              <a:rPr dirty="0" err="1"/>
              <a:t>מניעה</a:t>
            </a:r>
            <a:r>
              <a:rPr dirty="0"/>
              <a:t> </a:t>
            </a:r>
            <a:r>
              <a:rPr dirty="0" err="1"/>
              <a:t>ארבעה</a:t>
            </a:r>
            <a:r>
              <a:rPr dirty="0"/>
              <a:t> </a:t>
            </a:r>
            <a:r>
              <a:rPr dirty="0" err="1"/>
              <a:t>תוצרים</a:t>
            </a:r>
            <a:r>
              <a:rPr dirty="0"/>
              <a:t> </a:t>
            </a:r>
            <a:r>
              <a:rPr dirty="0" err="1"/>
              <a:t>מחוברים</a:t>
            </a:r>
            <a:r>
              <a:rPr dirty="0"/>
              <a:t>.</a:t>
            </a:r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048F7085-E596-47FF-84BB-6C1E06E5D98F}"/>
              </a:ext>
            </a:extLst>
          </p:cNvPr>
          <p:cNvSpPr>
            <a:spLocks noGrp="1"/>
          </p:cNvSpPr>
          <p:nvPr/>
        </p:nvSpPr>
        <p:spPr>
          <a:xfrm>
            <a:off x="9925050" y="2266950"/>
            <a:ext cx="400050" cy="400050"/>
          </a:xfrm>
          <a:prstGeom prst="ellipse">
            <a:avLst/>
          </a:prstGeom>
          <a:solidFill>
            <a:srgbClr val="F5F8FA"/>
          </a:solidFill>
          <a:ln w="0">
            <a:solidFill>
              <a:srgbClr val="F5F8FA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0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F6DEAC57-A3FB-4C24-86F6-3511D90C939A}"/>
              </a:ext>
            </a:extLst>
          </p:cNvPr>
          <p:cNvSpPr>
            <a:spLocks noGrp="1"/>
          </p:cNvSpPr>
          <p:nvPr/>
        </p:nvSpPr>
        <p:spPr>
          <a:xfrm>
            <a:off x="9239250" y="2781300"/>
            <a:ext cx="1809750" cy="1524000"/>
          </a:xfrm>
          <a:prstGeom prst="roundRect">
            <a:avLst>
              <a:gd name="adj" fmla="val 5000"/>
            </a:avLst>
          </a:prstGeom>
          <a:solidFill>
            <a:srgbClr val="10283A"/>
          </a:solidFill>
          <a:ln w="9525">
            <a:solidFill>
              <a:srgbClr val="2B5062"/>
            </a:solidFill>
          </a:ln>
        </p:spPr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C253F7EA-96AD-491D-8DD8-F144C56B50BF}"/>
              </a:ext>
            </a:extLst>
          </p:cNvPr>
          <p:cNvSpPr>
            <a:spLocks noGrp="1"/>
          </p:cNvSpPr>
          <p:nvPr/>
        </p:nvSpPr>
        <p:spPr>
          <a:xfrm>
            <a:off x="9429750" y="3000375"/>
            <a:ext cx="1428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קליטת CV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7D4B230-96D9-47A5-8EF3-1E5895854D51}"/>
              </a:ext>
            </a:extLst>
          </p:cNvPr>
          <p:cNvSpPr>
            <a:spLocks noGrp="1"/>
          </p:cNvSpPr>
          <p:nvPr/>
        </p:nvSpPr>
        <p:spPr>
          <a:xfrm>
            <a:off x="9582150" y="3524250"/>
            <a:ext cx="1123950" cy="28575"/>
          </a:xfrm>
          <a:prstGeom prst="rect">
            <a:avLst/>
          </a:prstGeom>
          <a:solidFill>
            <a:srgbClr val="F5F8FA"/>
          </a:solidFill>
          <a:ln w="0">
            <a:solidFill>
              <a:srgbClr val="F5F8FA"/>
            </a:solidFill>
          </a:ln>
        </p:spPr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58DAC099-9329-4C79-B530-226A4011F561}"/>
              </a:ext>
            </a:extLst>
          </p:cNvPr>
          <p:cNvSpPr>
            <a:spLocks noGrp="1"/>
          </p:cNvSpPr>
          <p:nvPr/>
        </p:nvSpPr>
        <p:spPr>
          <a:xfrm>
            <a:off x="9429750" y="3695700"/>
            <a:ext cx="142875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PDF </a:t>
            </a:r>
            <a:r>
              <a:rPr lang="he-IL" dirty="0"/>
              <a:t> מאובטח</a:t>
            </a:r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DEE8C46E-123C-4E2B-80A1-9CE30E7E7E96}"/>
              </a:ext>
            </a:extLst>
          </p:cNvPr>
          <p:cNvSpPr>
            <a:spLocks noGrp="1"/>
          </p:cNvSpPr>
          <p:nvPr/>
        </p:nvSpPr>
        <p:spPr>
          <a:xfrm>
            <a:off x="7353300" y="2266950"/>
            <a:ext cx="400050" cy="4000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0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55355F34-C0D1-4950-B2BB-0C067E9F0D2D}"/>
              </a:ext>
            </a:extLst>
          </p:cNvPr>
          <p:cNvSpPr>
            <a:spLocks noGrp="1"/>
          </p:cNvSpPr>
          <p:nvPr/>
        </p:nvSpPr>
        <p:spPr>
          <a:xfrm>
            <a:off x="6667500" y="2781300"/>
            <a:ext cx="1809750" cy="1524000"/>
          </a:xfrm>
          <a:prstGeom prst="roundRect">
            <a:avLst>
              <a:gd name="adj" fmla="val 5000"/>
            </a:avLst>
          </a:prstGeom>
          <a:solidFill>
            <a:srgbClr val="10283A"/>
          </a:solidFill>
          <a:ln w="9525">
            <a:solidFill>
              <a:srgbClr val="2B5062"/>
            </a:solidFill>
          </a:ln>
        </p:spPr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887C5829-47AB-496F-8223-C7A779B8029E}"/>
              </a:ext>
            </a:extLst>
          </p:cNvPr>
          <p:cNvSpPr>
            <a:spLocks noGrp="1"/>
          </p:cNvSpPr>
          <p:nvPr/>
        </p:nvSpPr>
        <p:spPr>
          <a:xfrm>
            <a:off x="6858000" y="3000375"/>
            <a:ext cx="1428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מיפוי כישורים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9EDD713E-FB4F-4D93-82CB-33D389FE498D}"/>
              </a:ext>
            </a:extLst>
          </p:cNvPr>
          <p:cNvSpPr>
            <a:spLocks noGrp="1"/>
          </p:cNvSpPr>
          <p:nvPr/>
        </p:nvSpPr>
        <p:spPr>
          <a:xfrm>
            <a:off x="7010400" y="3524250"/>
            <a:ext cx="1123950" cy="28575"/>
          </a:xfrm>
          <a:prstGeom prst="rect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C43ADA93-93B4-4A12-973E-81E29DEC6591}"/>
              </a:ext>
            </a:extLst>
          </p:cNvPr>
          <p:cNvSpPr>
            <a:spLocks noGrp="1"/>
          </p:cNvSpPr>
          <p:nvPr/>
        </p:nvSpPr>
        <p:spPr>
          <a:xfrm>
            <a:off x="6858000" y="3695700"/>
            <a:ext cx="142875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0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dirty="0"/>
              <a:t>Gemini + JSON</a:t>
            </a:r>
          </a:p>
        </p:txBody>
      </p:sp>
      <p:sp>
        <p:nvSpPr>
          <p:cNvPr id="14" name="אליפסה 13">
            <a:extLst>
              <a:ext uri="{FF2B5EF4-FFF2-40B4-BE49-F238E27FC236}">
                <a16:creationId xmlns:a16="http://schemas.microsoft.com/office/drawing/2014/main" id="{924DFE20-4860-488B-B3B6-1A46E851E1B7}"/>
              </a:ext>
            </a:extLst>
          </p:cNvPr>
          <p:cNvSpPr>
            <a:spLocks noGrp="1"/>
          </p:cNvSpPr>
          <p:nvPr/>
        </p:nvSpPr>
        <p:spPr>
          <a:xfrm>
            <a:off x="4781550" y="2266950"/>
            <a:ext cx="400050" cy="40005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0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BD9AA252-2BA0-4420-AC1D-F5386D0A73E8}"/>
              </a:ext>
            </a:extLst>
          </p:cNvPr>
          <p:cNvSpPr>
            <a:spLocks noGrp="1"/>
          </p:cNvSpPr>
          <p:nvPr/>
        </p:nvSpPr>
        <p:spPr>
          <a:xfrm>
            <a:off x="4095750" y="2781300"/>
            <a:ext cx="1809750" cy="1524000"/>
          </a:xfrm>
          <a:prstGeom prst="roundRect">
            <a:avLst>
              <a:gd name="adj" fmla="val 5000"/>
            </a:avLst>
          </a:prstGeom>
          <a:solidFill>
            <a:srgbClr val="10283A"/>
          </a:solidFill>
          <a:ln w="9525">
            <a:solidFill>
              <a:srgbClr val="2B5062"/>
            </a:solidFill>
          </a:ln>
        </p:spPr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C10ED085-7D76-462E-B4F1-181D3E53F58F}"/>
              </a:ext>
            </a:extLst>
          </p:cNvPr>
          <p:cNvSpPr>
            <a:spLocks noGrp="1"/>
          </p:cNvSpPr>
          <p:nvPr/>
        </p:nvSpPr>
        <p:spPr>
          <a:xfrm>
            <a:off x="4286250" y="3000375"/>
            <a:ext cx="1428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התאמת משרות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23025168-130E-4127-BA58-4FEBB7CC9099}"/>
              </a:ext>
            </a:extLst>
          </p:cNvPr>
          <p:cNvSpPr>
            <a:spLocks noGrp="1"/>
          </p:cNvSpPr>
          <p:nvPr/>
        </p:nvSpPr>
        <p:spPr>
          <a:xfrm>
            <a:off x="4438650" y="3524250"/>
            <a:ext cx="1123950" cy="28575"/>
          </a:xfrm>
          <a:prstGeom prst="rect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14B3EB1E-0D27-4D87-AAB7-07300606FB35}"/>
              </a:ext>
            </a:extLst>
          </p:cNvPr>
          <p:cNvSpPr>
            <a:spLocks noGrp="1"/>
          </p:cNvSpPr>
          <p:nvPr/>
        </p:nvSpPr>
        <p:spPr>
          <a:xfrm>
            <a:off x="4286250" y="3695700"/>
            <a:ext cx="142875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0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en-US" dirty="0" err="1"/>
              <a:t>SerpApi</a:t>
            </a:r>
            <a:r>
              <a:rPr lang="en-US" dirty="0"/>
              <a:t> + </a:t>
            </a:r>
            <a:r>
              <a:rPr lang="he-IL" dirty="0"/>
              <a:t> דירוג</a:t>
            </a:r>
            <a:endParaRPr dirty="0"/>
          </a:p>
        </p:txBody>
      </p:sp>
      <p:sp>
        <p:nvSpPr>
          <p:cNvPr id="19" name="אליפסה 18">
            <a:extLst>
              <a:ext uri="{FF2B5EF4-FFF2-40B4-BE49-F238E27FC236}">
                <a16:creationId xmlns:a16="http://schemas.microsoft.com/office/drawing/2014/main" id="{9B3858AE-E61C-4440-BCFA-3476F5C9A3B8}"/>
              </a:ext>
            </a:extLst>
          </p:cNvPr>
          <p:cNvSpPr>
            <a:spLocks noGrp="1"/>
          </p:cNvSpPr>
          <p:nvPr/>
        </p:nvSpPr>
        <p:spPr>
          <a:xfrm>
            <a:off x="2209800" y="2266950"/>
            <a:ext cx="400050" cy="40005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0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0" name="מלבן: פינות מעוגלות 19">
            <a:extLst>
              <a:ext uri="{FF2B5EF4-FFF2-40B4-BE49-F238E27FC236}">
                <a16:creationId xmlns:a16="http://schemas.microsoft.com/office/drawing/2014/main" id="{827BEE64-BB3E-4753-997E-86F1F9D31B2A}"/>
              </a:ext>
            </a:extLst>
          </p:cNvPr>
          <p:cNvSpPr>
            <a:spLocks noGrp="1"/>
          </p:cNvSpPr>
          <p:nvPr/>
        </p:nvSpPr>
        <p:spPr>
          <a:xfrm>
            <a:off x="1524000" y="2781300"/>
            <a:ext cx="1809750" cy="1524000"/>
          </a:xfrm>
          <a:prstGeom prst="roundRect">
            <a:avLst>
              <a:gd name="adj" fmla="val 5000"/>
            </a:avLst>
          </a:prstGeom>
          <a:solidFill>
            <a:srgbClr val="10283A"/>
          </a:solidFill>
          <a:ln w="9525">
            <a:solidFill>
              <a:srgbClr val="2B5062"/>
            </a:solidFill>
          </a:ln>
        </p:spPr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10C3CE94-AA45-4246-B822-17450DC25743}"/>
              </a:ext>
            </a:extLst>
          </p:cNvPr>
          <p:cNvSpPr>
            <a:spLocks noGrp="1"/>
          </p:cNvSpPr>
          <p:nvPr/>
        </p:nvSpPr>
        <p:spPr>
          <a:xfrm>
            <a:off x="1714500" y="3000375"/>
            <a:ext cx="1428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שיפור ממוקד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9EE87670-4FF7-4D1B-8BBB-7F914D341114}"/>
              </a:ext>
            </a:extLst>
          </p:cNvPr>
          <p:cNvSpPr>
            <a:spLocks noGrp="1"/>
          </p:cNvSpPr>
          <p:nvPr/>
        </p:nvSpPr>
        <p:spPr>
          <a:xfrm>
            <a:off x="1866900" y="3524250"/>
            <a:ext cx="1123950" cy="28575"/>
          </a:xfrm>
          <a:prstGeom prst="rect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28BC61F3-5E94-4CFE-BDCF-CC0F7B75B664}"/>
              </a:ext>
            </a:extLst>
          </p:cNvPr>
          <p:cNvSpPr>
            <a:spLocks noGrp="1"/>
          </p:cNvSpPr>
          <p:nvPr/>
        </p:nvSpPr>
        <p:spPr>
          <a:xfrm>
            <a:off x="1714500" y="3695700"/>
            <a:ext cx="142875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dirty="0"/>
              <a:t>PDF </a:t>
            </a:r>
            <a:r>
              <a:rPr lang="he-IL" dirty="0"/>
              <a:t> </a:t>
            </a:r>
            <a:r>
              <a:rPr dirty="0" err="1"/>
              <a:t>מותאם</a:t>
            </a:r>
            <a:endParaRPr dirty="0"/>
          </a:p>
        </p:txBody>
      </p:sp>
      <p:cxnSp>
        <p:nvCxnSpPr>
          <p:cNvPr id="24" name="מחבר חץ ישר 23"/>
          <p:cNvCxnSpPr>
            <a:cxnSpLocks/>
          </p:cNvCxnSpPr>
          <p:nvPr/>
        </p:nvCxnSpPr>
        <p:spPr>
          <a:xfrm>
            <a:off x="8522970" y="3543300"/>
            <a:ext cx="560070" cy="0"/>
          </a:xfrm>
          <a:prstGeom prst="straightConnector1">
            <a:avLst/>
          </a:prstGeom>
          <a:ln w="28575">
            <a:solidFill>
              <a:srgbClr val="35D0C7"/>
            </a:solidFill>
            <a:prstDash val="solid"/>
            <a:headEnd type="arrow" w="med" len="med"/>
          </a:ln>
        </p:spPr>
      </p:cxnSp>
      <p:sp>
        <p:nvSpPr>
          <p:cNvPr id="27" name="מלבן: פינות מעוגלות 26">
            <a:extLst>
              <a:ext uri="{FF2B5EF4-FFF2-40B4-BE49-F238E27FC236}">
                <a16:creationId xmlns:a16="http://schemas.microsoft.com/office/drawing/2014/main" id="{880C9DBC-4F2D-4193-B5FD-FAD21CD44BBB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10972800" cy="1123950"/>
          </a:xfrm>
          <a:prstGeom prst="roundRect">
            <a:avLst>
              <a:gd name="adj" fmla="val 6780"/>
            </a:avLst>
          </a:prstGeom>
          <a:solidFill>
            <a:srgbClr val="153447"/>
          </a:solidFill>
          <a:ln w="0">
            <a:solidFill>
              <a:srgbClr val="153447"/>
            </a:solidFill>
          </a:ln>
        </p:spPr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00AFE490-AAB7-4BF1-9637-8B8FE0EAA9D0}"/>
              </a:ext>
            </a:extLst>
          </p:cNvPr>
          <p:cNvSpPr>
            <a:spLocks noGrp="1"/>
          </p:cNvSpPr>
          <p:nvPr/>
        </p:nvSpPr>
        <p:spPr>
          <a:xfrm>
            <a:off x="9239250" y="5000625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35D0C7"/>
                </a:solidFill>
                <a:latin typeface="Arial"/>
                <a:ea typeface="Arial"/>
                <a:cs typeface="Arial"/>
              </a:defRPr>
            </a:pPr>
            <a:r>
              <a:t>ברור</a:t>
            </a: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F413D67C-9601-4BF4-A59D-DEE9E23DF7D6}"/>
              </a:ext>
            </a:extLst>
          </p:cNvPr>
          <p:cNvSpPr>
            <a:spLocks noGrp="1"/>
          </p:cNvSpPr>
          <p:nvPr/>
        </p:nvSpPr>
        <p:spPr>
          <a:xfrm>
            <a:off x="9239250" y="5457825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מצב</a:t>
            </a:r>
            <a:r>
              <a:rPr dirty="0"/>
              <a:t> </a:t>
            </a:r>
            <a:r>
              <a:rPr dirty="0" err="1"/>
              <a:t>המערכת</a:t>
            </a:r>
            <a:r>
              <a:rPr dirty="0"/>
              <a:t> </a:t>
            </a:r>
            <a:r>
              <a:rPr dirty="0" err="1"/>
              <a:t>בכל</a:t>
            </a:r>
            <a:r>
              <a:rPr dirty="0"/>
              <a:t> </a:t>
            </a:r>
            <a:r>
              <a:rPr dirty="0" err="1"/>
              <a:t>שלב</a:t>
            </a:r>
            <a:endParaRPr dirty="0"/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AB69E85B-5F9F-4A23-A0FF-167D1799F74F}"/>
              </a:ext>
            </a:extLst>
          </p:cNvPr>
          <p:cNvSpPr>
            <a:spLocks noGrp="1"/>
          </p:cNvSpPr>
          <p:nvPr/>
        </p:nvSpPr>
        <p:spPr>
          <a:xfrm>
            <a:off x="6572250" y="5000625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B8E36B"/>
                </a:solidFill>
                <a:latin typeface="Arial"/>
                <a:ea typeface="Arial"/>
                <a:cs typeface="Arial"/>
              </a:defRPr>
            </a:pPr>
            <a:r>
              <a:t>מוסבר</a:t>
            </a:r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895E5279-FF63-4339-9DB0-8A431A809FDC}"/>
              </a:ext>
            </a:extLst>
          </p:cNvPr>
          <p:cNvSpPr>
            <a:spLocks noGrp="1"/>
          </p:cNvSpPr>
          <p:nvPr/>
        </p:nvSpPr>
        <p:spPr>
          <a:xfrm>
            <a:off x="6572250" y="5457825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למה משרה מתאימה</a:t>
            </a:r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AAD3C3DD-A43B-46B8-A0DC-B494E519F414}"/>
              </a:ext>
            </a:extLst>
          </p:cNvPr>
          <p:cNvSpPr>
            <a:spLocks noGrp="1"/>
          </p:cNvSpPr>
          <p:nvPr/>
        </p:nvSpPr>
        <p:spPr>
          <a:xfrm>
            <a:off x="3905250" y="5000625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FFB45C"/>
                </a:solidFill>
                <a:latin typeface="Arial"/>
                <a:ea typeface="Arial"/>
                <a:cs typeface="Arial"/>
              </a:defRPr>
            </a:pPr>
            <a:r>
              <a:t>ממוקד</a:t>
            </a:r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A29A14FD-C46B-4EEA-A4BC-17D22C0FDE93}"/>
              </a:ext>
            </a:extLst>
          </p:cNvPr>
          <p:cNvSpPr>
            <a:spLocks noGrp="1"/>
          </p:cNvSpPr>
          <p:nvPr/>
        </p:nvSpPr>
        <p:spPr>
          <a:xfrm>
            <a:off x="3905250" y="5457825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מה צריך לשפר</a:t>
            </a:r>
          </a:p>
        </p:txBody>
      </p:sp>
      <p:sp>
        <p:nvSpPr>
          <p:cNvPr id="34" name="מלבן 33">
            <a:extLst>
              <a:ext uri="{FF2B5EF4-FFF2-40B4-BE49-F238E27FC236}">
                <a16:creationId xmlns:a16="http://schemas.microsoft.com/office/drawing/2014/main" id="{12C0578B-B6A0-48FB-9381-F34804311FE8}"/>
              </a:ext>
            </a:extLst>
          </p:cNvPr>
          <p:cNvSpPr>
            <a:spLocks noGrp="1"/>
          </p:cNvSpPr>
          <p:nvPr/>
        </p:nvSpPr>
        <p:spPr>
          <a:xfrm>
            <a:off x="1238250" y="5000625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35D0C7"/>
                </a:solidFill>
                <a:latin typeface="Arial"/>
                <a:ea typeface="Arial"/>
                <a:cs typeface="Arial"/>
              </a:defRPr>
            </a:pPr>
            <a:r>
              <a:t>מוכן</a:t>
            </a:r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757FE8E1-D89C-453D-B547-DD089870496A}"/>
              </a:ext>
            </a:extLst>
          </p:cNvPr>
          <p:cNvSpPr>
            <a:spLocks noGrp="1"/>
          </p:cNvSpPr>
          <p:nvPr/>
        </p:nvSpPr>
        <p:spPr>
          <a:xfrm>
            <a:off x="1238250" y="5457825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מסמך לפעולה הבאה</a:t>
            </a:r>
          </a:p>
        </p:txBody>
      </p:sp>
      <p:sp>
        <p:nvSpPr>
          <p:cNvPr id="36" name="מלבן 35">
            <a:extLst>
              <a:ext uri="{FF2B5EF4-FFF2-40B4-BE49-F238E27FC236}">
                <a16:creationId xmlns:a16="http://schemas.microsoft.com/office/drawing/2014/main" id="{6C7EE68F-ECAD-48D8-8549-C680C45988D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38" name="מלבן 37">
            <a:extLst>
              <a:ext uri="{FF2B5EF4-FFF2-40B4-BE49-F238E27FC236}">
                <a16:creationId xmlns:a16="http://schemas.microsoft.com/office/drawing/2014/main" id="{46B08242-5C5F-4383-804E-4AF1C0F4826D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04</a:t>
            </a:r>
            <a:endParaRPr dirty="0"/>
          </a:p>
        </p:txBody>
      </p:sp>
      <p:cxnSp>
        <p:nvCxnSpPr>
          <p:cNvPr id="42" name="מחבר חץ ישר 41">
            <a:extLst>
              <a:ext uri="{FF2B5EF4-FFF2-40B4-BE49-F238E27FC236}">
                <a16:creationId xmlns:a16="http://schemas.microsoft.com/office/drawing/2014/main" id="{5A45A116-BB1A-4C04-8D7F-95DAB0205CF0}"/>
              </a:ext>
            </a:extLst>
          </p:cNvPr>
          <p:cNvCxnSpPr>
            <a:cxnSpLocks/>
          </p:cNvCxnSpPr>
          <p:nvPr/>
        </p:nvCxnSpPr>
        <p:spPr>
          <a:xfrm>
            <a:off x="6012180" y="3524250"/>
            <a:ext cx="560070" cy="0"/>
          </a:xfrm>
          <a:prstGeom prst="straightConnector1">
            <a:avLst/>
          </a:prstGeom>
          <a:ln w="28575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43" name="מחבר חץ ישר 42">
            <a:extLst>
              <a:ext uri="{FF2B5EF4-FFF2-40B4-BE49-F238E27FC236}">
                <a16:creationId xmlns:a16="http://schemas.microsoft.com/office/drawing/2014/main" id="{3B4D865E-36BA-407B-B157-D6432C25F8C9}"/>
              </a:ext>
            </a:extLst>
          </p:cNvPr>
          <p:cNvCxnSpPr>
            <a:cxnSpLocks/>
          </p:cNvCxnSpPr>
          <p:nvPr/>
        </p:nvCxnSpPr>
        <p:spPr>
          <a:xfrm>
            <a:off x="3436620" y="3524250"/>
            <a:ext cx="560070" cy="0"/>
          </a:xfrm>
          <a:prstGeom prst="straightConnector1">
            <a:avLst/>
          </a:prstGeom>
          <a:ln w="28575">
            <a:solidFill>
              <a:srgbClr val="35D0C7"/>
            </a:solidFill>
            <a:prstDash val="solid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491434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kicker-marker">
            <a:extLst>
              <a:ext uri="{FF2B5EF4-FFF2-40B4-BE49-F238E27FC236}">
                <a16:creationId xmlns:a16="http://schemas.microsoft.com/office/drawing/2014/main" id="{9C0223BE-6732-4927-A322-8C67BCCD6B72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0A3C5EF1-E90C-4D0B-9CFC-7BD0F03ED65A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UX JOURNEY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2335DEE3-55DD-44EB-BF89-D1FEBAC11D0E}"/>
              </a:ext>
            </a:extLst>
          </p:cNvPr>
          <p:cNvSpPr>
            <a:spLocks noGrp="1"/>
          </p:cNvSpPr>
          <p:nvPr/>
        </p:nvSpPr>
        <p:spPr>
          <a:xfrm>
            <a:off x="5429250" y="609600"/>
            <a:ext cx="6096000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ה־</a:t>
            </a:r>
            <a:r>
              <a:rPr lang="en-US" dirty="0"/>
              <a:t>UX </a:t>
            </a:r>
            <a:r>
              <a:rPr lang="he-IL" dirty="0"/>
              <a:t> מסיר </a:t>
            </a:r>
            <a:r>
              <a:rPr lang="he-IL" dirty="0" err="1"/>
              <a:t>אי־ודאות</a:t>
            </a:r>
            <a:r>
              <a:rPr lang="he-IL" dirty="0"/>
              <a:t> בכל מעבר.</a:t>
            </a:r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9BA254CF-83A6-40B0-91C0-746B12E1E40B}"/>
              </a:ext>
            </a:extLst>
          </p:cNvPr>
          <p:cNvSpPr>
            <a:spLocks noGrp="1"/>
          </p:cNvSpPr>
          <p:nvPr/>
        </p:nvSpPr>
        <p:spPr>
          <a:xfrm>
            <a:off x="9848850" y="1752600"/>
            <a:ext cx="304800" cy="3048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9C6F8550-A217-4E7D-8C7C-A96C46944103}"/>
              </a:ext>
            </a:extLst>
          </p:cNvPr>
          <p:cNvSpPr>
            <a:spLocks noGrp="1"/>
          </p:cNvSpPr>
          <p:nvPr/>
        </p:nvSpPr>
        <p:spPr>
          <a:xfrm>
            <a:off x="8858250" y="1685925"/>
            <a:ext cx="9525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העלאה</a:t>
            </a:r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3F5EA3E5-1E37-4E7D-920E-544C29C99D5D}"/>
              </a:ext>
            </a:extLst>
          </p:cNvPr>
          <p:cNvSpPr>
            <a:spLocks noGrp="1"/>
          </p:cNvSpPr>
          <p:nvPr/>
        </p:nvSpPr>
        <p:spPr>
          <a:xfrm>
            <a:off x="7086600" y="1752600"/>
            <a:ext cx="304800" cy="3048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7FD93915-CA4E-4B08-B7B6-1CEFAF78C108}"/>
              </a:ext>
            </a:extLst>
          </p:cNvPr>
          <p:cNvSpPr>
            <a:spLocks noGrp="1"/>
          </p:cNvSpPr>
          <p:nvPr/>
        </p:nvSpPr>
        <p:spPr>
          <a:xfrm>
            <a:off x="6096000" y="1685925"/>
            <a:ext cx="9525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ניתוח</a:t>
            </a: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4537AC20-2873-4012-B829-03639DCDABB6}"/>
              </a:ext>
            </a:extLst>
          </p:cNvPr>
          <p:cNvSpPr>
            <a:spLocks noGrp="1"/>
          </p:cNvSpPr>
          <p:nvPr/>
        </p:nvSpPr>
        <p:spPr>
          <a:xfrm>
            <a:off x="4324350" y="1752600"/>
            <a:ext cx="304800" cy="3048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720EA9DA-5F03-482A-9E0F-1B1ECE010227}"/>
              </a:ext>
            </a:extLst>
          </p:cNvPr>
          <p:cNvSpPr>
            <a:spLocks noGrp="1"/>
          </p:cNvSpPr>
          <p:nvPr/>
        </p:nvSpPr>
        <p:spPr>
          <a:xfrm>
            <a:off x="3333750" y="1685925"/>
            <a:ext cx="9525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בחירה</a:t>
            </a:r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72B4BFAB-9CEA-423D-A0E1-F655D08DC472}"/>
              </a:ext>
            </a:extLst>
          </p:cNvPr>
          <p:cNvSpPr>
            <a:spLocks noGrp="1"/>
          </p:cNvSpPr>
          <p:nvPr/>
        </p:nvSpPr>
        <p:spPr>
          <a:xfrm>
            <a:off x="1562100" y="1752600"/>
            <a:ext cx="304800" cy="3048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C0E912F7-4087-4A4F-BA34-7F2CDC4E3CAD}"/>
              </a:ext>
            </a:extLst>
          </p:cNvPr>
          <p:cNvSpPr>
            <a:spLocks noGrp="1"/>
          </p:cNvSpPr>
          <p:nvPr/>
        </p:nvSpPr>
        <p:spPr>
          <a:xfrm>
            <a:off x="571500" y="1685925"/>
            <a:ext cx="9525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שיפור</a:t>
            </a:r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E246F46D-5C02-4F9A-86B8-7059C307C17F}"/>
              </a:ext>
            </a:extLst>
          </p:cNvPr>
          <p:cNvSpPr>
            <a:spLocks noGrp="1"/>
          </p:cNvSpPr>
          <p:nvPr/>
        </p:nvSpPr>
        <p:spPr>
          <a:xfrm>
            <a:off x="8858250" y="2143125"/>
            <a:ext cx="2333625" cy="2857500"/>
          </a:xfrm>
          <a:prstGeom prst="roundRect">
            <a:avLst>
              <a:gd name="adj" fmla="val 3265"/>
            </a:avLst>
          </a:prstGeom>
          <a:solidFill>
            <a:srgbClr val="F5F8FA"/>
          </a:solidFill>
          <a:ln w="9525">
            <a:solidFill>
              <a:srgbClr val="AFC2CB"/>
            </a:solidFill>
          </a:ln>
        </p:spPr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0132C41D-CCEC-4656-A74F-730F680BBF3C}"/>
              </a:ext>
            </a:extLst>
          </p:cNvPr>
          <p:cNvSpPr>
            <a:spLocks noGrp="1"/>
          </p:cNvSpPr>
          <p:nvPr/>
        </p:nvSpPr>
        <p:spPr>
          <a:xfrm>
            <a:off x="8858250" y="2143125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DDE8EC"/>
          </a:solidFill>
          <a:ln w="0">
            <a:solidFill>
              <a:srgbClr val="DDE8EC"/>
            </a:solidFill>
          </a:ln>
        </p:spPr>
      </p:sp>
      <p:sp>
        <p:nvSpPr>
          <p:cNvPr id="14" name="אליפסה 13">
            <a:extLst>
              <a:ext uri="{FF2B5EF4-FFF2-40B4-BE49-F238E27FC236}">
                <a16:creationId xmlns:a16="http://schemas.microsoft.com/office/drawing/2014/main" id="{24338FA3-88CD-4D62-B9AF-A89FDADADDC9}"/>
              </a:ext>
            </a:extLst>
          </p:cNvPr>
          <p:cNvSpPr>
            <a:spLocks noGrp="1"/>
          </p:cNvSpPr>
          <p:nvPr/>
        </p:nvSpPr>
        <p:spPr>
          <a:xfrm>
            <a:off x="8991600" y="2238375"/>
            <a:ext cx="76200" cy="76200"/>
          </a:xfrm>
          <a:prstGeom prst="ellipse">
            <a:avLst/>
          </a:prstGeom>
          <a:solidFill>
            <a:srgbClr val="FF7A72"/>
          </a:solidFill>
          <a:ln w="0">
            <a:solidFill>
              <a:srgbClr val="FF7A72"/>
            </a:solidFill>
          </a:ln>
        </p:spPr>
      </p:sp>
      <p:sp>
        <p:nvSpPr>
          <p:cNvPr id="15" name="אליפסה 14">
            <a:extLst>
              <a:ext uri="{FF2B5EF4-FFF2-40B4-BE49-F238E27FC236}">
                <a16:creationId xmlns:a16="http://schemas.microsoft.com/office/drawing/2014/main" id="{78C56FB3-5F15-496F-A417-7490FA6BF019}"/>
              </a:ext>
            </a:extLst>
          </p:cNvPr>
          <p:cNvSpPr>
            <a:spLocks noGrp="1"/>
          </p:cNvSpPr>
          <p:nvPr/>
        </p:nvSpPr>
        <p:spPr>
          <a:xfrm>
            <a:off x="9124950" y="2238375"/>
            <a:ext cx="76200" cy="762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16" name="אליפסה 15">
            <a:extLst>
              <a:ext uri="{FF2B5EF4-FFF2-40B4-BE49-F238E27FC236}">
                <a16:creationId xmlns:a16="http://schemas.microsoft.com/office/drawing/2014/main" id="{8C67359C-2238-4854-B877-0CE002A4E0C0}"/>
              </a:ext>
            </a:extLst>
          </p:cNvPr>
          <p:cNvSpPr>
            <a:spLocks noGrp="1"/>
          </p:cNvSpPr>
          <p:nvPr/>
        </p:nvSpPr>
        <p:spPr>
          <a:xfrm>
            <a:off x="9258300" y="2238375"/>
            <a:ext cx="76200" cy="7620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920CA95B-3762-4F76-A281-09E33FC46C09}"/>
              </a:ext>
            </a:extLst>
          </p:cNvPr>
          <p:cNvSpPr>
            <a:spLocks noGrp="1"/>
          </p:cNvSpPr>
          <p:nvPr/>
        </p:nvSpPr>
        <p:spPr>
          <a:xfrm>
            <a:off x="9010650" y="2562225"/>
            <a:ext cx="2028825" cy="819150"/>
          </a:xfrm>
          <a:prstGeom prst="roundRect">
            <a:avLst>
              <a:gd name="adj" fmla="val 9302"/>
            </a:avLst>
          </a:prstGeom>
          <a:solidFill>
            <a:srgbClr val="153447"/>
          </a:solidFill>
          <a:ln w="0">
            <a:solidFill>
              <a:srgbClr val="153447"/>
            </a:solidFill>
          </a:ln>
        </p:spPr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122EE4D9-D6C0-4CB0-A649-E5BEDAEFBBB6}"/>
              </a:ext>
            </a:extLst>
          </p:cNvPr>
          <p:cNvSpPr>
            <a:spLocks noGrp="1"/>
          </p:cNvSpPr>
          <p:nvPr/>
        </p:nvSpPr>
        <p:spPr>
          <a:xfrm>
            <a:off x="9124950" y="2657475"/>
            <a:ext cx="1809750" cy="4953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המשרה הבאה מתחילה כאן</a:t>
            </a:r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0D872FBB-BEE2-4B1E-A1C0-92311B6E9293}"/>
              </a:ext>
            </a:extLst>
          </p:cNvPr>
          <p:cNvSpPr>
            <a:spLocks noGrp="1"/>
          </p:cNvSpPr>
          <p:nvPr/>
        </p:nvSpPr>
        <p:spPr>
          <a:xfrm>
            <a:off x="9277350" y="3600450"/>
            <a:ext cx="1495425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7CBD3"/>
            </a:solidFill>
          </a:ln>
        </p:spPr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B1B1E1A4-BB90-4CD2-9CC4-6FA6D20FEC49}"/>
              </a:ext>
            </a:extLst>
          </p:cNvPr>
          <p:cNvSpPr>
            <a:spLocks noGrp="1"/>
          </p:cNvSpPr>
          <p:nvPr/>
        </p:nvSpPr>
        <p:spPr>
          <a:xfrm>
            <a:off x="9372600" y="3752850"/>
            <a:ext cx="1304925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גרירת קובץ PDF</a:t>
            </a:r>
          </a:p>
        </p:txBody>
      </p:sp>
      <p:sp>
        <p:nvSpPr>
          <p:cNvPr id="21" name="מלבן: פינות מעוגלות 20">
            <a:extLst>
              <a:ext uri="{FF2B5EF4-FFF2-40B4-BE49-F238E27FC236}">
                <a16:creationId xmlns:a16="http://schemas.microsoft.com/office/drawing/2014/main" id="{107010AC-BD17-41D4-AA0B-304E79FC4500}"/>
              </a:ext>
            </a:extLst>
          </p:cNvPr>
          <p:cNvSpPr>
            <a:spLocks noGrp="1"/>
          </p:cNvSpPr>
          <p:nvPr/>
        </p:nvSpPr>
        <p:spPr>
          <a:xfrm>
            <a:off x="9486900" y="4448175"/>
            <a:ext cx="1076325" cy="285750"/>
          </a:xfrm>
          <a:prstGeom prst="roundRect">
            <a:avLst>
              <a:gd name="adj" fmla="val 26667"/>
            </a:avLst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התחלה</a:t>
            </a:r>
          </a:p>
        </p:txBody>
      </p:sp>
      <p:sp>
        <p:nvSpPr>
          <p:cNvPr id="22" name="מלבן: פינות מעוגלות 21">
            <a:extLst>
              <a:ext uri="{FF2B5EF4-FFF2-40B4-BE49-F238E27FC236}">
                <a16:creationId xmlns:a16="http://schemas.microsoft.com/office/drawing/2014/main" id="{4307AF70-4F1A-4353-AA32-27B19BA02979}"/>
              </a:ext>
            </a:extLst>
          </p:cNvPr>
          <p:cNvSpPr>
            <a:spLocks noGrp="1"/>
          </p:cNvSpPr>
          <p:nvPr/>
        </p:nvSpPr>
        <p:spPr>
          <a:xfrm>
            <a:off x="6096000" y="2143125"/>
            <a:ext cx="2333625" cy="2857500"/>
          </a:xfrm>
          <a:prstGeom prst="roundRect">
            <a:avLst>
              <a:gd name="adj" fmla="val 3265"/>
            </a:avLst>
          </a:prstGeom>
          <a:solidFill>
            <a:srgbClr val="F5F8FA"/>
          </a:solidFill>
          <a:ln w="9525">
            <a:solidFill>
              <a:srgbClr val="AFC2CB"/>
            </a:solidFill>
          </a:ln>
        </p:spPr>
      </p:sp>
      <p:sp>
        <p:nvSpPr>
          <p:cNvPr id="23" name="מלבן: פינות מעוגלות 22">
            <a:extLst>
              <a:ext uri="{FF2B5EF4-FFF2-40B4-BE49-F238E27FC236}">
                <a16:creationId xmlns:a16="http://schemas.microsoft.com/office/drawing/2014/main" id="{03A45489-09E6-4FF8-9BB1-558367645954}"/>
              </a:ext>
            </a:extLst>
          </p:cNvPr>
          <p:cNvSpPr>
            <a:spLocks noGrp="1"/>
          </p:cNvSpPr>
          <p:nvPr/>
        </p:nvSpPr>
        <p:spPr>
          <a:xfrm>
            <a:off x="6096000" y="2143125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DDE8EC"/>
          </a:solidFill>
          <a:ln w="0">
            <a:solidFill>
              <a:srgbClr val="DDE8EC"/>
            </a:solidFill>
          </a:ln>
        </p:spPr>
      </p:sp>
      <p:sp>
        <p:nvSpPr>
          <p:cNvPr id="24" name="אליפסה 23">
            <a:extLst>
              <a:ext uri="{FF2B5EF4-FFF2-40B4-BE49-F238E27FC236}">
                <a16:creationId xmlns:a16="http://schemas.microsoft.com/office/drawing/2014/main" id="{0BD90C1E-1E6D-44D6-B7B4-50EC907382BB}"/>
              </a:ext>
            </a:extLst>
          </p:cNvPr>
          <p:cNvSpPr>
            <a:spLocks noGrp="1"/>
          </p:cNvSpPr>
          <p:nvPr/>
        </p:nvSpPr>
        <p:spPr>
          <a:xfrm>
            <a:off x="6229350" y="2238375"/>
            <a:ext cx="76200" cy="76200"/>
          </a:xfrm>
          <a:prstGeom prst="ellipse">
            <a:avLst/>
          </a:prstGeom>
          <a:solidFill>
            <a:srgbClr val="FF7A72"/>
          </a:solidFill>
          <a:ln w="0">
            <a:solidFill>
              <a:srgbClr val="FF7A72"/>
            </a:solidFill>
          </a:ln>
        </p:spPr>
      </p:sp>
      <p:sp>
        <p:nvSpPr>
          <p:cNvPr id="25" name="אליפסה 24">
            <a:extLst>
              <a:ext uri="{FF2B5EF4-FFF2-40B4-BE49-F238E27FC236}">
                <a16:creationId xmlns:a16="http://schemas.microsoft.com/office/drawing/2014/main" id="{9185CF21-E774-4C7E-AA32-721D47617C16}"/>
              </a:ext>
            </a:extLst>
          </p:cNvPr>
          <p:cNvSpPr>
            <a:spLocks noGrp="1"/>
          </p:cNvSpPr>
          <p:nvPr/>
        </p:nvSpPr>
        <p:spPr>
          <a:xfrm>
            <a:off x="6362700" y="2238375"/>
            <a:ext cx="76200" cy="762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26" name="אליפסה 25">
            <a:extLst>
              <a:ext uri="{FF2B5EF4-FFF2-40B4-BE49-F238E27FC236}">
                <a16:creationId xmlns:a16="http://schemas.microsoft.com/office/drawing/2014/main" id="{92C620DC-CC53-4AB5-A987-BB62D1C7CE4F}"/>
              </a:ext>
            </a:extLst>
          </p:cNvPr>
          <p:cNvSpPr>
            <a:spLocks noGrp="1"/>
          </p:cNvSpPr>
          <p:nvPr/>
        </p:nvSpPr>
        <p:spPr>
          <a:xfrm>
            <a:off x="6496050" y="2238375"/>
            <a:ext cx="76200" cy="7620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62F5B5B6-0101-47DC-9BD7-50CF8A4979FD}"/>
              </a:ext>
            </a:extLst>
          </p:cNvPr>
          <p:cNvSpPr>
            <a:spLocks noGrp="1"/>
          </p:cNvSpPr>
          <p:nvPr/>
        </p:nvSpPr>
        <p:spPr>
          <a:xfrm>
            <a:off x="6286500" y="2638425"/>
            <a:ext cx="1952625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0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מנתחים את קורות החיים</a:t>
            </a:r>
          </a:p>
        </p:txBody>
      </p:sp>
      <p:sp>
        <p:nvSpPr>
          <p:cNvPr id="28" name="אליפסה 27">
            <a:extLst>
              <a:ext uri="{FF2B5EF4-FFF2-40B4-BE49-F238E27FC236}">
                <a16:creationId xmlns:a16="http://schemas.microsoft.com/office/drawing/2014/main" id="{A7473B48-B09D-4CAC-8EC5-40BF8620BDB9}"/>
              </a:ext>
            </a:extLst>
          </p:cNvPr>
          <p:cNvSpPr>
            <a:spLocks noGrp="1"/>
          </p:cNvSpPr>
          <p:nvPr/>
        </p:nvSpPr>
        <p:spPr>
          <a:xfrm>
            <a:off x="6886575" y="3114675"/>
            <a:ext cx="742950" cy="742950"/>
          </a:xfrm>
          <a:prstGeom prst="ellipse">
            <a:avLst/>
          </a:prstGeom>
          <a:solidFill>
            <a:srgbClr val="F5F8FA"/>
          </a:solidFill>
          <a:ln w="7620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7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72%</a:t>
            </a: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5C59BFFD-29E4-4B60-A940-855BFA42FB43}"/>
              </a:ext>
            </a:extLst>
          </p:cNvPr>
          <p:cNvSpPr>
            <a:spLocks noGrp="1"/>
          </p:cNvSpPr>
          <p:nvPr/>
        </p:nvSpPr>
        <p:spPr>
          <a:xfrm>
            <a:off x="6381750" y="4000500"/>
            <a:ext cx="1762125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0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זוהו</a:t>
            </a:r>
            <a:r>
              <a:rPr dirty="0"/>
              <a:t> 8</a:t>
            </a:r>
            <a:r>
              <a:rPr lang="he-IL" dirty="0"/>
              <a:t> </a:t>
            </a:r>
            <a:r>
              <a:rPr dirty="0" err="1"/>
              <a:t>כישורים</a:t>
            </a:r>
            <a:endParaRPr dirty="0"/>
          </a:p>
        </p:txBody>
      </p:sp>
      <p:sp>
        <p:nvSpPr>
          <p:cNvPr id="30" name="מלבן: פינות מעוגלות 29">
            <a:extLst>
              <a:ext uri="{FF2B5EF4-FFF2-40B4-BE49-F238E27FC236}">
                <a16:creationId xmlns:a16="http://schemas.microsoft.com/office/drawing/2014/main" id="{69F46F41-057C-4399-954C-5AA1DF31840D}"/>
              </a:ext>
            </a:extLst>
          </p:cNvPr>
          <p:cNvSpPr>
            <a:spLocks noGrp="1"/>
          </p:cNvSpPr>
          <p:nvPr/>
        </p:nvSpPr>
        <p:spPr>
          <a:xfrm>
            <a:off x="6324600" y="4381500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DCE8EC"/>
          </a:solidFill>
          <a:ln w="0">
            <a:solidFill>
              <a:srgbClr val="DCE8EC"/>
            </a:solidFill>
          </a:ln>
        </p:spPr>
        <p:txBody>
          <a:bodyPr lIns="76200" tIns="38100" rIns="76200" bIns="38100" anchor="ctr">
            <a:normAutofit fontScale="82996" lnSpcReduction="10000"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Node.js</a:t>
            </a:r>
          </a:p>
        </p:txBody>
      </p:sp>
      <p:sp>
        <p:nvSpPr>
          <p:cNvPr id="31" name="מלבן: פינות מעוגלות 30">
            <a:extLst>
              <a:ext uri="{FF2B5EF4-FFF2-40B4-BE49-F238E27FC236}">
                <a16:creationId xmlns:a16="http://schemas.microsoft.com/office/drawing/2014/main" id="{A324A710-A549-4053-87C2-B8F263373673}"/>
              </a:ext>
            </a:extLst>
          </p:cNvPr>
          <p:cNvSpPr>
            <a:spLocks noGrp="1"/>
          </p:cNvSpPr>
          <p:nvPr/>
        </p:nvSpPr>
        <p:spPr>
          <a:xfrm>
            <a:off x="6972300" y="4381500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DCE8EC"/>
          </a:solidFill>
          <a:ln w="0">
            <a:solidFill>
              <a:srgbClr val="DCE8E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SQL</a:t>
            </a:r>
          </a:p>
        </p:txBody>
      </p:sp>
      <p:sp>
        <p:nvSpPr>
          <p:cNvPr id="32" name="מלבן: פינות מעוגלות 31">
            <a:extLst>
              <a:ext uri="{FF2B5EF4-FFF2-40B4-BE49-F238E27FC236}">
                <a16:creationId xmlns:a16="http://schemas.microsoft.com/office/drawing/2014/main" id="{37C17F15-5A6D-498E-B531-81A0FAF2D966}"/>
              </a:ext>
            </a:extLst>
          </p:cNvPr>
          <p:cNvSpPr>
            <a:spLocks noGrp="1"/>
          </p:cNvSpPr>
          <p:nvPr/>
        </p:nvSpPr>
        <p:spPr>
          <a:xfrm>
            <a:off x="7620000" y="4381500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DCE8EC"/>
          </a:solidFill>
          <a:ln w="0">
            <a:solidFill>
              <a:srgbClr val="DCE8E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React</a:t>
            </a:r>
          </a:p>
        </p:txBody>
      </p:sp>
      <p:sp>
        <p:nvSpPr>
          <p:cNvPr id="33" name="מלבן: פינות מעוגלות 32">
            <a:extLst>
              <a:ext uri="{FF2B5EF4-FFF2-40B4-BE49-F238E27FC236}">
                <a16:creationId xmlns:a16="http://schemas.microsoft.com/office/drawing/2014/main" id="{FAA7C0F2-200F-4D89-AA06-8B5309C98C75}"/>
              </a:ext>
            </a:extLst>
          </p:cNvPr>
          <p:cNvSpPr>
            <a:spLocks noGrp="1"/>
          </p:cNvSpPr>
          <p:nvPr/>
        </p:nvSpPr>
        <p:spPr>
          <a:xfrm>
            <a:off x="3333750" y="2143125"/>
            <a:ext cx="2333625" cy="2857500"/>
          </a:xfrm>
          <a:prstGeom prst="roundRect">
            <a:avLst>
              <a:gd name="adj" fmla="val 3265"/>
            </a:avLst>
          </a:prstGeom>
          <a:solidFill>
            <a:srgbClr val="F5F8FA"/>
          </a:solidFill>
          <a:ln w="9525">
            <a:solidFill>
              <a:srgbClr val="AFC2CB"/>
            </a:solidFill>
          </a:ln>
        </p:spPr>
      </p:sp>
      <p:sp>
        <p:nvSpPr>
          <p:cNvPr id="34" name="מלבן: פינות מעוגלות 33">
            <a:extLst>
              <a:ext uri="{FF2B5EF4-FFF2-40B4-BE49-F238E27FC236}">
                <a16:creationId xmlns:a16="http://schemas.microsoft.com/office/drawing/2014/main" id="{15092332-1B67-4E60-8602-CD9307B3F1CA}"/>
              </a:ext>
            </a:extLst>
          </p:cNvPr>
          <p:cNvSpPr>
            <a:spLocks noGrp="1"/>
          </p:cNvSpPr>
          <p:nvPr/>
        </p:nvSpPr>
        <p:spPr>
          <a:xfrm>
            <a:off x="3333750" y="2143125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DDE8EC"/>
          </a:solidFill>
          <a:ln w="0">
            <a:solidFill>
              <a:srgbClr val="DDE8EC"/>
            </a:solidFill>
          </a:ln>
        </p:spPr>
      </p:sp>
      <p:sp>
        <p:nvSpPr>
          <p:cNvPr id="35" name="אליפסה 34">
            <a:extLst>
              <a:ext uri="{FF2B5EF4-FFF2-40B4-BE49-F238E27FC236}">
                <a16:creationId xmlns:a16="http://schemas.microsoft.com/office/drawing/2014/main" id="{AF736403-8311-4E7B-9293-7A530729CA37}"/>
              </a:ext>
            </a:extLst>
          </p:cNvPr>
          <p:cNvSpPr>
            <a:spLocks noGrp="1"/>
          </p:cNvSpPr>
          <p:nvPr/>
        </p:nvSpPr>
        <p:spPr>
          <a:xfrm>
            <a:off x="3467100" y="2238375"/>
            <a:ext cx="76200" cy="76200"/>
          </a:xfrm>
          <a:prstGeom prst="ellipse">
            <a:avLst/>
          </a:prstGeom>
          <a:solidFill>
            <a:srgbClr val="FF7A72"/>
          </a:solidFill>
          <a:ln w="0">
            <a:solidFill>
              <a:srgbClr val="FF7A72"/>
            </a:solidFill>
          </a:ln>
        </p:spPr>
      </p:sp>
      <p:sp>
        <p:nvSpPr>
          <p:cNvPr id="36" name="אליפסה 35">
            <a:extLst>
              <a:ext uri="{FF2B5EF4-FFF2-40B4-BE49-F238E27FC236}">
                <a16:creationId xmlns:a16="http://schemas.microsoft.com/office/drawing/2014/main" id="{6C3C133F-AC00-4BE6-ACAC-14DB643380D2}"/>
              </a:ext>
            </a:extLst>
          </p:cNvPr>
          <p:cNvSpPr>
            <a:spLocks noGrp="1"/>
          </p:cNvSpPr>
          <p:nvPr/>
        </p:nvSpPr>
        <p:spPr>
          <a:xfrm>
            <a:off x="3600450" y="2238375"/>
            <a:ext cx="76200" cy="762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37" name="אליפסה 36">
            <a:extLst>
              <a:ext uri="{FF2B5EF4-FFF2-40B4-BE49-F238E27FC236}">
                <a16:creationId xmlns:a16="http://schemas.microsoft.com/office/drawing/2014/main" id="{F66C0CD2-4F30-4D12-A67D-40B8ABF93826}"/>
              </a:ext>
            </a:extLst>
          </p:cNvPr>
          <p:cNvSpPr>
            <a:spLocks noGrp="1"/>
          </p:cNvSpPr>
          <p:nvPr/>
        </p:nvSpPr>
        <p:spPr>
          <a:xfrm>
            <a:off x="3733800" y="2238375"/>
            <a:ext cx="76200" cy="7620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38" name="מלבן 37">
            <a:extLst>
              <a:ext uri="{FF2B5EF4-FFF2-40B4-BE49-F238E27FC236}">
                <a16:creationId xmlns:a16="http://schemas.microsoft.com/office/drawing/2014/main" id="{6A092950-3A5D-4CEA-9EC5-4030DFE9D11D}"/>
              </a:ext>
            </a:extLst>
          </p:cNvPr>
          <p:cNvSpPr>
            <a:spLocks noGrp="1"/>
          </p:cNvSpPr>
          <p:nvPr/>
        </p:nvSpPr>
        <p:spPr>
          <a:xfrm>
            <a:off x="3524250" y="2600325"/>
            <a:ext cx="1952625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20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/>
              <a:t>3 </a:t>
            </a:r>
            <a:r>
              <a:rPr lang="he-IL" dirty="0"/>
              <a:t> </a:t>
            </a:r>
            <a:r>
              <a:rPr dirty="0" err="1"/>
              <a:t>התאמות</a:t>
            </a:r>
            <a:r>
              <a:rPr dirty="0"/>
              <a:t> </a:t>
            </a:r>
            <a:r>
              <a:rPr dirty="0" err="1"/>
              <a:t>מובילות</a:t>
            </a:r>
            <a:endParaRPr dirty="0"/>
          </a:p>
        </p:txBody>
      </p:sp>
      <p:sp>
        <p:nvSpPr>
          <p:cNvPr id="39" name="מלבן: פינות מעוגלות 38">
            <a:extLst>
              <a:ext uri="{FF2B5EF4-FFF2-40B4-BE49-F238E27FC236}">
                <a16:creationId xmlns:a16="http://schemas.microsoft.com/office/drawing/2014/main" id="{858EBFC1-75D6-4341-860A-DD0026129F78}"/>
              </a:ext>
            </a:extLst>
          </p:cNvPr>
          <p:cNvSpPr>
            <a:spLocks noGrp="1"/>
          </p:cNvSpPr>
          <p:nvPr/>
        </p:nvSpPr>
        <p:spPr>
          <a:xfrm>
            <a:off x="3505200" y="3009900"/>
            <a:ext cx="1990725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6D6DB"/>
            </a:solidFill>
          </a:ln>
        </p:spPr>
      </p:sp>
      <p:sp>
        <p:nvSpPr>
          <p:cNvPr id="40" name="מלבן 39">
            <a:extLst>
              <a:ext uri="{FF2B5EF4-FFF2-40B4-BE49-F238E27FC236}">
                <a16:creationId xmlns:a16="http://schemas.microsoft.com/office/drawing/2014/main" id="{9BD20606-A7AB-48D7-B1B8-B5C68CD46AAB}"/>
              </a:ext>
            </a:extLst>
          </p:cNvPr>
          <p:cNvSpPr>
            <a:spLocks noGrp="1"/>
          </p:cNvSpPr>
          <p:nvPr/>
        </p:nvSpPr>
        <p:spPr>
          <a:xfrm>
            <a:off x="3981450" y="3152775"/>
            <a:ext cx="1400175" cy="190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409" lnSpcReduction="10000"/>
          </a:bodyPr>
          <a:lstStyle/>
          <a:p>
            <a:pPr algn="r" rtl="1">
              <a:defRPr sz="8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/>
              <a:t>Backend Developer</a:t>
            </a:r>
          </a:p>
        </p:txBody>
      </p:sp>
      <p:sp>
        <p:nvSpPr>
          <p:cNvPr id="41" name="מלבן: פינות מעוגלות 40">
            <a:extLst>
              <a:ext uri="{FF2B5EF4-FFF2-40B4-BE49-F238E27FC236}">
                <a16:creationId xmlns:a16="http://schemas.microsoft.com/office/drawing/2014/main" id="{300ABB1F-DEAE-47FE-84F1-44AF79752D0B}"/>
              </a:ext>
            </a:extLst>
          </p:cNvPr>
          <p:cNvSpPr>
            <a:spLocks noGrp="1"/>
          </p:cNvSpPr>
          <p:nvPr/>
        </p:nvSpPr>
        <p:spPr>
          <a:xfrm>
            <a:off x="3543300" y="3105150"/>
            <a:ext cx="400050" cy="285750"/>
          </a:xfrm>
          <a:prstGeom prst="roundRect">
            <a:avLst>
              <a:gd name="adj" fmla="val 26667"/>
            </a:avLst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76200" tIns="38100" rIns="76200" bIns="38100" anchor="ctr">
            <a:normAutofit fontScale="69965" lnSpcReduction="20000"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92%</a:t>
            </a:r>
          </a:p>
        </p:txBody>
      </p:sp>
      <p:sp>
        <p:nvSpPr>
          <p:cNvPr id="42" name="מלבן: פינות מעוגלות 41">
            <a:extLst>
              <a:ext uri="{FF2B5EF4-FFF2-40B4-BE49-F238E27FC236}">
                <a16:creationId xmlns:a16="http://schemas.microsoft.com/office/drawing/2014/main" id="{18DB08E2-8FB0-4D70-BDFF-D48573330388}"/>
              </a:ext>
            </a:extLst>
          </p:cNvPr>
          <p:cNvSpPr>
            <a:spLocks noGrp="1"/>
          </p:cNvSpPr>
          <p:nvPr/>
        </p:nvSpPr>
        <p:spPr>
          <a:xfrm>
            <a:off x="3505200" y="3600450"/>
            <a:ext cx="1990725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6D6DB"/>
            </a:solidFill>
          </a:ln>
        </p:spPr>
        <p:txBody>
          <a:bodyPr/>
          <a:lstStyle/>
          <a:p>
            <a:endParaRPr lang="he-IL" dirty="0"/>
          </a:p>
        </p:txBody>
      </p:sp>
      <p:sp>
        <p:nvSpPr>
          <p:cNvPr id="43" name="מלבן 42">
            <a:extLst>
              <a:ext uri="{FF2B5EF4-FFF2-40B4-BE49-F238E27FC236}">
                <a16:creationId xmlns:a16="http://schemas.microsoft.com/office/drawing/2014/main" id="{721635A8-5444-40A3-9EBC-5D253CDFCF1E}"/>
              </a:ext>
            </a:extLst>
          </p:cNvPr>
          <p:cNvSpPr>
            <a:spLocks noGrp="1"/>
          </p:cNvSpPr>
          <p:nvPr/>
        </p:nvSpPr>
        <p:spPr>
          <a:xfrm>
            <a:off x="3981450" y="3752850"/>
            <a:ext cx="1400175" cy="190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409" lnSpcReduction="10000"/>
          </a:bodyPr>
          <a:lstStyle/>
          <a:p>
            <a:pPr algn="r" rtl="1">
              <a:defRPr sz="8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Fullstack</a:t>
            </a:r>
            <a:r>
              <a:rPr dirty="0"/>
              <a:t> Developer</a:t>
            </a:r>
          </a:p>
        </p:txBody>
      </p:sp>
      <p:sp>
        <p:nvSpPr>
          <p:cNvPr id="44" name="מלבן: פינות מעוגלות 43">
            <a:extLst>
              <a:ext uri="{FF2B5EF4-FFF2-40B4-BE49-F238E27FC236}">
                <a16:creationId xmlns:a16="http://schemas.microsoft.com/office/drawing/2014/main" id="{6B1145BD-992A-43E5-AC90-0314B97D5555}"/>
              </a:ext>
            </a:extLst>
          </p:cNvPr>
          <p:cNvSpPr>
            <a:spLocks noGrp="1"/>
          </p:cNvSpPr>
          <p:nvPr/>
        </p:nvSpPr>
        <p:spPr>
          <a:xfrm>
            <a:off x="3543300" y="3695700"/>
            <a:ext cx="400050" cy="285750"/>
          </a:xfrm>
          <a:prstGeom prst="roundRect">
            <a:avLst>
              <a:gd name="adj" fmla="val 26667"/>
            </a:avLst>
          </a:prstGeom>
          <a:solidFill>
            <a:srgbClr val="DCE8EC"/>
          </a:solidFill>
          <a:ln w="0">
            <a:solidFill>
              <a:srgbClr val="DCE8EC"/>
            </a:solidFill>
          </a:ln>
        </p:spPr>
        <p:txBody>
          <a:bodyPr lIns="76200" tIns="38100" rIns="76200" bIns="38100" anchor="ctr">
            <a:normAutofit fontScale="69965" lnSpcReduction="20000"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88%</a:t>
            </a:r>
          </a:p>
        </p:txBody>
      </p:sp>
      <p:sp>
        <p:nvSpPr>
          <p:cNvPr id="45" name="מלבן: פינות מעוגלות 44">
            <a:extLst>
              <a:ext uri="{FF2B5EF4-FFF2-40B4-BE49-F238E27FC236}">
                <a16:creationId xmlns:a16="http://schemas.microsoft.com/office/drawing/2014/main" id="{0E95F613-B783-4A16-95ED-101C46948566}"/>
              </a:ext>
            </a:extLst>
          </p:cNvPr>
          <p:cNvSpPr>
            <a:spLocks noGrp="1"/>
          </p:cNvSpPr>
          <p:nvPr/>
        </p:nvSpPr>
        <p:spPr>
          <a:xfrm>
            <a:off x="3505200" y="4191000"/>
            <a:ext cx="1990725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6D6DB"/>
            </a:solidFill>
          </a:ln>
        </p:spPr>
      </p:sp>
      <p:sp>
        <p:nvSpPr>
          <p:cNvPr id="46" name="מלבן 45">
            <a:extLst>
              <a:ext uri="{FF2B5EF4-FFF2-40B4-BE49-F238E27FC236}">
                <a16:creationId xmlns:a16="http://schemas.microsoft.com/office/drawing/2014/main" id="{6A8933D3-AB17-4504-A9DC-497CBE44D353}"/>
              </a:ext>
            </a:extLst>
          </p:cNvPr>
          <p:cNvSpPr>
            <a:spLocks noGrp="1"/>
          </p:cNvSpPr>
          <p:nvPr/>
        </p:nvSpPr>
        <p:spPr>
          <a:xfrm>
            <a:off x="3981450" y="4352925"/>
            <a:ext cx="1400175" cy="190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409" lnSpcReduction="10000"/>
          </a:bodyPr>
          <a:lstStyle/>
          <a:p>
            <a:pPr algn="r" rtl="1">
              <a:defRPr sz="8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/>
              <a:t>Node.js Developer</a:t>
            </a:r>
          </a:p>
        </p:txBody>
      </p:sp>
      <p:sp>
        <p:nvSpPr>
          <p:cNvPr id="47" name="מלבן: פינות מעוגלות 46">
            <a:extLst>
              <a:ext uri="{FF2B5EF4-FFF2-40B4-BE49-F238E27FC236}">
                <a16:creationId xmlns:a16="http://schemas.microsoft.com/office/drawing/2014/main" id="{39732E23-607B-403C-9909-D840353134C7}"/>
              </a:ext>
            </a:extLst>
          </p:cNvPr>
          <p:cNvSpPr>
            <a:spLocks noGrp="1"/>
          </p:cNvSpPr>
          <p:nvPr/>
        </p:nvSpPr>
        <p:spPr>
          <a:xfrm>
            <a:off x="3543300" y="4286250"/>
            <a:ext cx="400050" cy="285750"/>
          </a:xfrm>
          <a:prstGeom prst="roundRect">
            <a:avLst>
              <a:gd name="adj" fmla="val 26667"/>
            </a:avLst>
          </a:prstGeom>
          <a:solidFill>
            <a:srgbClr val="DCE8EC"/>
          </a:solidFill>
          <a:ln w="0">
            <a:solidFill>
              <a:srgbClr val="DCE8EC"/>
            </a:solidFill>
          </a:ln>
        </p:spPr>
        <p:txBody>
          <a:bodyPr lIns="76200" tIns="38100" rIns="76200" bIns="38100" anchor="ctr">
            <a:normAutofit fontScale="69965" lnSpcReduction="20000"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84%</a:t>
            </a:r>
          </a:p>
        </p:txBody>
      </p:sp>
      <p:sp>
        <p:nvSpPr>
          <p:cNvPr id="48" name="מלבן: פינות מעוגלות 47">
            <a:extLst>
              <a:ext uri="{FF2B5EF4-FFF2-40B4-BE49-F238E27FC236}">
                <a16:creationId xmlns:a16="http://schemas.microsoft.com/office/drawing/2014/main" id="{A7592754-AC7C-4422-B331-74317FEDE445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2333625" cy="2857500"/>
          </a:xfrm>
          <a:prstGeom prst="roundRect">
            <a:avLst>
              <a:gd name="adj" fmla="val 3265"/>
            </a:avLst>
          </a:prstGeom>
          <a:solidFill>
            <a:srgbClr val="F5F8FA"/>
          </a:solidFill>
          <a:ln w="9525">
            <a:solidFill>
              <a:srgbClr val="AFC2CB"/>
            </a:solidFill>
          </a:ln>
        </p:spPr>
      </p:sp>
      <p:sp>
        <p:nvSpPr>
          <p:cNvPr id="49" name="מלבן: פינות מעוגלות 48">
            <a:extLst>
              <a:ext uri="{FF2B5EF4-FFF2-40B4-BE49-F238E27FC236}">
                <a16:creationId xmlns:a16="http://schemas.microsoft.com/office/drawing/2014/main" id="{9A2A674F-B627-4DA9-A6E2-2223BBB2E976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2333625" cy="266700"/>
          </a:xfrm>
          <a:prstGeom prst="roundRect">
            <a:avLst>
              <a:gd name="adj" fmla="val 28571"/>
            </a:avLst>
          </a:prstGeom>
          <a:solidFill>
            <a:srgbClr val="DDE8EC"/>
          </a:solidFill>
          <a:ln w="0">
            <a:solidFill>
              <a:srgbClr val="DDE8EC"/>
            </a:solidFill>
          </a:ln>
        </p:spPr>
      </p:sp>
      <p:sp>
        <p:nvSpPr>
          <p:cNvPr id="50" name="אליפסה 49">
            <a:extLst>
              <a:ext uri="{FF2B5EF4-FFF2-40B4-BE49-F238E27FC236}">
                <a16:creationId xmlns:a16="http://schemas.microsoft.com/office/drawing/2014/main" id="{156AB959-F6AB-4DC4-A31A-046AF5CF8A4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76200" cy="76200"/>
          </a:xfrm>
          <a:prstGeom prst="ellipse">
            <a:avLst/>
          </a:prstGeom>
          <a:solidFill>
            <a:srgbClr val="FF7A72"/>
          </a:solidFill>
          <a:ln w="0">
            <a:solidFill>
              <a:srgbClr val="FF7A72"/>
            </a:solidFill>
          </a:ln>
        </p:spPr>
      </p:sp>
      <p:sp>
        <p:nvSpPr>
          <p:cNvPr id="51" name="אליפסה 50">
            <a:extLst>
              <a:ext uri="{FF2B5EF4-FFF2-40B4-BE49-F238E27FC236}">
                <a16:creationId xmlns:a16="http://schemas.microsoft.com/office/drawing/2014/main" id="{ACEE9C16-16DB-4692-B6E2-837C439C150C}"/>
              </a:ext>
            </a:extLst>
          </p:cNvPr>
          <p:cNvSpPr>
            <a:spLocks noGrp="1"/>
          </p:cNvSpPr>
          <p:nvPr/>
        </p:nvSpPr>
        <p:spPr>
          <a:xfrm>
            <a:off x="838200" y="2238375"/>
            <a:ext cx="76200" cy="762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52" name="אליפסה 51">
            <a:extLst>
              <a:ext uri="{FF2B5EF4-FFF2-40B4-BE49-F238E27FC236}">
                <a16:creationId xmlns:a16="http://schemas.microsoft.com/office/drawing/2014/main" id="{A7C523AA-BDE5-4002-96DF-5CDA53503272}"/>
              </a:ext>
            </a:extLst>
          </p:cNvPr>
          <p:cNvSpPr>
            <a:spLocks noGrp="1"/>
          </p:cNvSpPr>
          <p:nvPr/>
        </p:nvSpPr>
        <p:spPr>
          <a:xfrm>
            <a:off x="971550" y="2238375"/>
            <a:ext cx="76200" cy="7620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53" name="מלבן 52">
            <a:extLst>
              <a:ext uri="{FF2B5EF4-FFF2-40B4-BE49-F238E27FC236}">
                <a16:creationId xmlns:a16="http://schemas.microsoft.com/office/drawing/2014/main" id="{645B8F6F-1292-4C5B-A858-BD9CAB906D78}"/>
              </a:ext>
            </a:extLst>
          </p:cNvPr>
          <p:cNvSpPr>
            <a:spLocks noGrp="1"/>
          </p:cNvSpPr>
          <p:nvPr/>
        </p:nvSpPr>
        <p:spPr>
          <a:xfrm>
            <a:off x="762000" y="2600325"/>
            <a:ext cx="1952625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20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פערי הכישורים</a:t>
            </a:r>
          </a:p>
        </p:txBody>
      </p:sp>
      <p:sp>
        <p:nvSpPr>
          <p:cNvPr id="54" name="מלבן: פינות מעוגלות 53">
            <a:extLst>
              <a:ext uri="{FF2B5EF4-FFF2-40B4-BE49-F238E27FC236}">
                <a16:creationId xmlns:a16="http://schemas.microsoft.com/office/drawing/2014/main" id="{2841FB51-3F43-41FF-B106-06EE35BD283C}"/>
              </a:ext>
            </a:extLst>
          </p:cNvPr>
          <p:cNvSpPr>
            <a:spLocks noGrp="1"/>
          </p:cNvSpPr>
          <p:nvPr/>
        </p:nvSpPr>
        <p:spPr>
          <a:xfrm>
            <a:off x="800100" y="2990850"/>
            <a:ext cx="57150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 fontScale="84796" lnSpcReduction="10000"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Docker</a:t>
            </a:r>
          </a:p>
        </p:txBody>
      </p:sp>
      <p:sp>
        <p:nvSpPr>
          <p:cNvPr id="55" name="מלבן: פינות מעוגלות 54">
            <a:extLst>
              <a:ext uri="{FF2B5EF4-FFF2-40B4-BE49-F238E27FC236}">
                <a16:creationId xmlns:a16="http://schemas.microsoft.com/office/drawing/2014/main" id="{97A2C036-17DD-46A6-8F98-09F3C3E763A6}"/>
              </a:ext>
            </a:extLst>
          </p:cNvPr>
          <p:cNvSpPr>
            <a:spLocks noGrp="1"/>
          </p:cNvSpPr>
          <p:nvPr/>
        </p:nvSpPr>
        <p:spPr>
          <a:xfrm>
            <a:off x="1428750" y="2990850"/>
            <a:ext cx="57150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Cloud</a:t>
            </a:r>
          </a:p>
        </p:txBody>
      </p:sp>
      <p:sp>
        <p:nvSpPr>
          <p:cNvPr id="56" name="מלבן: פינות מעוגלות 55">
            <a:extLst>
              <a:ext uri="{FF2B5EF4-FFF2-40B4-BE49-F238E27FC236}">
                <a16:creationId xmlns:a16="http://schemas.microsoft.com/office/drawing/2014/main" id="{2B713184-3F34-4344-B127-98A3638C2253}"/>
              </a:ext>
            </a:extLst>
          </p:cNvPr>
          <p:cNvSpPr>
            <a:spLocks noGrp="1"/>
          </p:cNvSpPr>
          <p:nvPr/>
        </p:nvSpPr>
        <p:spPr>
          <a:xfrm>
            <a:off x="2057400" y="2990850"/>
            <a:ext cx="57150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Tests</a:t>
            </a:r>
          </a:p>
        </p:txBody>
      </p:sp>
      <p:sp>
        <p:nvSpPr>
          <p:cNvPr id="57" name="מלבן: פינות מעוגלות 56">
            <a:extLst>
              <a:ext uri="{FF2B5EF4-FFF2-40B4-BE49-F238E27FC236}">
                <a16:creationId xmlns:a16="http://schemas.microsoft.com/office/drawing/2014/main" id="{26DBC666-FFFD-4D2C-AAC1-F9DFB9A42A82}"/>
              </a:ext>
            </a:extLst>
          </p:cNvPr>
          <p:cNvSpPr>
            <a:spLocks noGrp="1"/>
          </p:cNvSpPr>
          <p:nvPr/>
        </p:nvSpPr>
        <p:spPr>
          <a:xfrm>
            <a:off x="762000" y="3448050"/>
            <a:ext cx="1952625" cy="876300"/>
          </a:xfrm>
          <a:prstGeom prst="roundRect">
            <a:avLst>
              <a:gd name="adj" fmla="val 8696"/>
            </a:avLst>
          </a:prstGeom>
          <a:solidFill>
            <a:srgbClr val="E7F0F2"/>
          </a:solidFill>
          <a:ln w="0">
            <a:solidFill>
              <a:srgbClr val="E7F0F2"/>
            </a:solidFill>
          </a:ln>
        </p:spPr>
      </p:sp>
      <p:sp>
        <p:nvSpPr>
          <p:cNvPr id="58" name="מלבן 57">
            <a:extLst>
              <a:ext uri="{FF2B5EF4-FFF2-40B4-BE49-F238E27FC236}">
                <a16:creationId xmlns:a16="http://schemas.microsoft.com/office/drawing/2014/main" id="{41B0F9C4-3813-45E5-B74B-8AE4E4800AD5}"/>
              </a:ext>
            </a:extLst>
          </p:cNvPr>
          <p:cNvSpPr>
            <a:spLocks noGrp="1"/>
          </p:cNvSpPr>
          <p:nvPr/>
        </p:nvSpPr>
        <p:spPr>
          <a:xfrm>
            <a:off x="876300" y="3571875"/>
            <a:ext cx="1724025" cy="609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00" b="0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נוסח</a:t>
            </a:r>
            <a:r>
              <a:rPr dirty="0"/>
              <a:t> </a:t>
            </a:r>
            <a:r>
              <a:rPr dirty="0" err="1"/>
              <a:t>משופר</a:t>
            </a:r>
            <a:r>
              <a:rPr dirty="0"/>
              <a:t> </a:t>
            </a:r>
            <a:r>
              <a:rPr dirty="0" err="1"/>
              <a:t>שמדגיש</a:t>
            </a:r>
            <a:r>
              <a:rPr dirty="0"/>
              <a:t> </a:t>
            </a:r>
            <a:r>
              <a:rPr dirty="0" err="1"/>
              <a:t>ניסיון</a:t>
            </a:r>
            <a:r>
              <a:rPr dirty="0"/>
              <a:t> </a:t>
            </a:r>
            <a:r>
              <a:rPr dirty="0" err="1"/>
              <a:t>רלוונטי</a:t>
            </a:r>
            <a:r>
              <a:rPr dirty="0"/>
              <a:t> </a:t>
            </a:r>
            <a:r>
              <a:rPr dirty="0" err="1"/>
              <a:t>ומציג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הכישורים</a:t>
            </a:r>
            <a:r>
              <a:rPr dirty="0"/>
              <a:t> </a:t>
            </a:r>
            <a:r>
              <a:rPr dirty="0" err="1"/>
              <a:t>בשפת</a:t>
            </a:r>
            <a:r>
              <a:rPr dirty="0"/>
              <a:t> </a:t>
            </a:r>
            <a:r>
              <a:rPr dirty="0" err="1"/>
              <a:t>המשרה</a:t>
            </a:r>
            <a:r>
              <a:rPr dirty="0"/>
              <a:t>.</a:t>
            </a:r>
          </a:p>
        </p:txBody>
      </p:sp>
      <p:sp>
        <p:nvSpPr>
          <p:cNvPr id="59" name="מלבן: פינות מעוגלות 58">
            <a:extLst>
              <a:ext uri="{FF2B5EF4-FFF2-40B4-BE49-F238E27FC236}">
                <a16:creationId xmlns:a16="http://schemas.microsoft.com/office/drawing/2014/main" id="{4037276F-3CCA-410A-B41A-0F29D57AF01B}"/>
              </a:ext>
            </a:extLst>
          </p:cNvPr>
          <p:cNvSpPr>
            <a:spLocks noGrp="1"/>
          </p:cNvSpPr>
          <p:nvPr/>
        </p:nvSpPr>
        <p:spPr>
          <a:xfrm>
            <a:off x="1095375" y="4476750"/>
            <a:ext cx="1285875" cy="285750"/>
          </a:xfrm>
          <a:prstGeom prst="roundRect">
            <a:avLst>
              <a:gd name="adj" fmla="val 26667"/>
            </a:avLst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הורדת PDF</a:t>
            </a:r>
          </a:p>
        </p:txBody>
      </p:sp>
      <p:sp>
        <p:nvSpPr>
          <p:cNvPr id="60" name="מלבן 59">
            <a:extLst>
              <a:ext uri="{FF2B5EF4-FFF2-40B4-BE49-F238E27FC236}">
                <a16:creationId xmlns:a16="http://schemas.microsoft.com/office/drawing/2014/main" id="{B320CC02-BA61-4484-8499-C1D879578FD4}"/>
              </a:ext>
            </a:extLst>
          </p:cNvPr>
          <p:cNvSpPr>
            <a:spLocks noGrp="1"/>
          </p:cNvSpPr>
          <p:nvPr/>
        </p:nvSpPr>
        <p:spPr>
          <a:xfrm>
            <a:off x="8858250" y="5219700"/>
            <a:ext cx="2333625" cy="19050"/>
          </a:xfrm>
          <a:prstGeom prst="rect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61" name="מלבן 60">
            <a:extLst>
              <a:ext uri="{FF2B5EF4-FFF2-40B4-BE49-F238E27FC236}">
                <a16:creationId xmlns:a16="http://schemas.microsoft.com/office/drawing/2014/main" id="{4C37DE42-4074-47A0-9311-DB7EDA21F7E2}"/>
              </a:ext>
            </a:extLst>
          </p:cNvPr>
          <p:cNvSpPr>
            <a:spLocks noGrp="1"/>
          </p:cNvSpPr>
          <p:nvPr/>
        </p:nvSpPr>
        <p:spPr>
          <a:xfrm>
            <a:off x="8858250" y="5314950"/>
            <a:ext cx="2333625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פעולה ראשית אחת</a:t>
            </a:r>
          </a:p>
        </p:txBody>
      </p:sp>
      <p:sp>
        <p:nvSpPr>
          <p:cNvPr id="62" name="מלבן 61">
            <a:extLst>
              <a:ext uri="{FF2B5EF4-FFF2-40B4-BE49-F238E27FC236}">
                <a16:creationId xmlns:a16="http://schemas.microsoft.com/office/drawing/2014/main" id="{94FF4B49-173D-46D7-A795-EC049711D5B0}"/>
              </a:ext>
            </a:extLst>
          </p:cNvPr>
          <p:cNvSpPr>
            <a:spLocks noGrp="1"/>
          </p:cNvSpPr>
          <p:nvPr/>
        </p:nvSpPr>
        <p:spPr>
          <a:xfrm>
            <a:off x="8858250" y="5562600"/>
            <a:ext cx="2333625" cy="5143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82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בלי</a:t>
            </a:r>
            <a:r>
              <a:rPr dirty="0"/>
              <a:t> </a:t>
            </a:r>
            <a:r>
              <a:rPr dirty="0" err="1"/>
              <a:t>להעמיס</a:t>
            </a:r>
            <a:r>
              <a:rPr dirty="0"/>
              <a:t> </a:t>
            </a:r>
            <a:r>
              <a:rPr dirty="0" err="1"/>
              <a:t>אפשרויות</a:t>
            </a:r>
            <a:r>
              <a:rPr dirty="0"/>
              <a:t> </a:t>
            </a:r>
            <a:r>
              <a:rPr dirty="0" err="1"/>
              <a:t>לפני</a:t>
            </a:r>
            <a:r>
              <a:rPr dirty="0"/>
              <a:t> </a:t>
            </a:r>
            <a:r>
              <a:rPr dirty="0" err="1"/>
              <a:t>שהמערכת</a:t>
            </a:r>
            <a:r>
              <a:rPr dirty="0"/>
              <a:t> </a:t>
            </a:r>
            <a:r>
              <a:rPr dirty="0" err="1"/>
              <a:t>מכירה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המשתמש</a:t>
            </a:r>
            <a:endParaRPr dirty="0"/>
          </a:p>
        </p:txBody>
      </p:sp>
      <p:sp>
        <p:nvSpPr>
          <p:cNvPr id="63" name="מלבן 62">
            <a:extLst>
              <a:ext uri="{FF2B5EF4-FFF2-40B4-BE49-F238E27FC236}">
                <a16:creationId xmlns:a16="http://schemas.microsoft.com/office/drawing/2014/main" id="{8E4E93FF-3277-4066-943B-3CFC021B0650}"/>
              </a:ext>
            </a:extLst>
          </p:cNvPr>
          <p:cNvSpPr>
            <a:spLocks noGrp="1"/>
          </p:cNvSpPr>
          <p:nvPr/>
        </p:nvSpPr>
        <p:spPr>
          <a:xfrm>
            <a:off x="6096000" y="5219700"/>
            <a:ext cx="2333625" cy="19050"/>
          </a:xfrm>
          <a:prstGeom prst="rect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64" name="מלבן 63">
            <a:extLst>
              <a:ext uri="{FF2B5EF4-FFF2-40B4-BE49-F238E27FC236}">
                <a16:creationId xmlns:a16="http://schemas.microsoft.com/office/drawing/2014/main" id="{41C9CC3B-0D20-4B69-A8CC-FD6E830DB572}"/>
              </a:ext>
            </a:extLst>
          </p:cNvPr>
          <p:cNvSpPr>
            <a:spLocks noGrp="1"/>
          </p:cNvSpPr>
          <p:nvPr/>
        </p:nvSpPr>
        <p:spPr>
          <a:xfrm>
            <a:off x="6096000" y="5314950"/>
            <a:ext cx="2333625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משוב בזמן אמת</a:t>
            </a:r>
          </a:p>
        </p:txBody>
      </p:sp>
      <p:sp>
        <p:nvSpPr>
          <p:cNvPr id="65" name="מלבן 64">
            <a:extLst>
              <a:ext uri="{FF2B5EF4-FFF2-40B4-BE49-F238E27FC236}">
                <a16:creationId xmlns:a16="http://schemas.microsoft.com/office/drawing/2014/main" id="{A77EA1E3-C044-442F-82F9-01DFFEE334EC}"/>
              </a:ext>
            </a:extLst>
          </p:cNvPr>
          <p:cNvSpPr>
            <a:spLocks noGrp="1"/>
          </p:cNvSpPr>
          <p:nvPr/>
        </p:nvSpPr>
        <p:spPr>
          <a:xfrm>
            <a:off x="6096000" y="5562600"/>
            <a:ext cx="2333625" cy="5143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82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התקדמות גלויה הופכת המתנה לחוויה צפויה</a:t>
            </a:r>
          </a:p>
        </p:txBody>
      </p:sp>
      <p:sp>
        <p:nvSpPr>
          <p:cNvPr id="66" name="מלבן 65">
            <a:extLst>
              <a:ext uri="{FF2B5EF4-FFF2-40B4-BE49-F238E27FC236}">
                <a16:creationId xmlns:a16="http://schemas.microsoft.com/office/drawing/2014/main" id="{44E2E0C3-6AC8-45BC-88A0-B26355B57BBA}"/>
              </a:ext>
            </a:extLst>
          </p:cNvPr>
          <p:cNvSpPr>
            <a:spLocks noGrp="1"/>
          </p:cNvSpPr>
          <p:nvPr/>
        </p:nvSpPr>
        <p:spPr>
          <a:xfrm>
            <a:off x="3333750" y="5219700"/>
            <a:ext cx="2333625" cy="19050"/>
          </a:xfrm>
          <a:prstGeom prst="rect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67" name="מלבן 66">
            <a:extLst>
              <a:ext uri="{FF2B5EF4-FFF2-40B4-BE49-F238E27FC236}">
                <a16:creationId xmlns:a16="http://schemas.microsoft.com/office/drawing/2014/main" id="{3B42F91A-CD66-4322-A743-4FC7CFD6BD32}"/>
              </a:ext>
            </a:extLst>
          </p:cNvPr>
          <p:cNvSpPr>
            <a:spLocks noGrp="1"/>
          </p:cNvSpPr>
          <p:nvPr/>
        </p:nvSpPr>
        <p:spPr>
          <a:xfrm>
            <a:off x="3333750" y="5314950"/>
            <a:ext cx="2333625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הסבר לפני דירוג</a:t>
            </a:r>
          </a:p>
        </p:txBody>
      </p:sp>
      <p:sp>
        <p:nvSpPr>
          <p:cNvPr id="68" name="מלבן 67">
            <a:extLst>
              <a:ext uri="{FF2B5EF4-FFF2-40B4-BE49-F238E27FC236}">
                <a16:creationId xmlns:a16="http://schemas.microsoft.com/office/drawing/2014/main" id="{7180BB91-F732-4867-9846-8C52C2D77743}"/>
              </a:ext>
            </a:extLst>
          </p:cNvPr>
          <p:cNvSpPr>
            <a:spLocks noGrp="1"/>
          </p:cNvSpPr>
          <p:nvPr/>
        </p:nvSpPr>
        <p:spPr>
          <a:xfrm>
            <a:off x="3333750" y="5562600"/>
            <a:ext cx="2333625" cy="5143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82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ההתאמה מוצגת יחד עם הסיבה והפערים</a:t>
            </a:r>
          </a:p>
        </p:txBody>
      </p:sp>
      <p:sp>
        <p:nvSpPr>
          <p:cNvPr id="69" name="מלבן 68">
            <a:extLst>
              <a:ext uri="{FF2B5EF4-FFF2-40B4-BE49-F238E27FC236}">
                <a16:creationId xmlns:a16="http://schemas.microsoft.com/office/drawing/2014/main" id="{F029E5BC-25D8-4763-8210-C4692C9D5CF0}"/>
              </a:ext>
            </a:extLst>
          </p:cNvPr>
          <p:cNvSpPr>
            <a:spLocks noGrp="1"/>
          </p:cNvSpPr>
          <p:nvPr/>
        </p:nvSpPr>
        <p:spPr>
          <a:xfrm>
            <a:off x="571500" y="5219700"/>
            <a:ext cx="2333625" cy="19050"/>
          </a:xfrm>
          <a:prstGeom prst="rect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70" name="מלבן 69">
            <a:extLst>
              <a:ext uri="{FF2B5EF4-FFF2-40B4-BE49-F238E27FC236}">
                <a16:creationId xmlns:a16="http://schemas.microsoft.com/office/drawing/2014/main" id="{836AC6B4-0EB6-4D38-9E78-6D8DC35A975D}"/>
              </a:ext>
            </a:extLst>
          </p:cNvPr>
          <p:cNvSpPr>
            <a:spLocks noGrp="1"/>
          </p:cNvSpPr>
          <p:nvPr/>
        </p:nvSpPr>
        <p:spPr>
          <a:xfrm>
            <a:off x="571500" y="5314950"/>
            <a:ext cx="2333625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CTA</a:t>
            </a:r>
            <a:r>
              <a:rPr lang="he-IL" dirty="0"/>
              <a:t> </a:t>
            </a:r>
            <a:r>
              <a:rPr dirty="0" err="1"/>
              <a:t>שמסיים</a:t>
            </a:r>
            <a:r>
              <a:rPr dirty="0"/>
              <a:t> </a:t>
            </a:r>
            <a:r>
              <a:rPr dirty="0" err="1"/>
              <a:t>משימה</a:t>
            </a:r>
            <a:endParaRPr dirty="0"/>
          </a:p>
        </p:txBody>
      </p:sp>
      <p:sp>
        <p:nvSpPr>
          <p:cNvPr id="71" name="מלבן 70">
            <a:extLst>
              <a:ext uri="{FF2B5EF4-FFF2-40B4-BE49-F238E27FC236}">
                <a16:creationId xmlns:a16="http://schemas.microsoft.com/office/drawing/2014/main" id="{21D6102F-A569-48F5-96A8-2666840B0732}"/>
              </a:ext>
            </a:extLst>
          </p:cNvPr>
          <p:cNvSpPr>
            <a:spLocks noGrp="1"/>
          </p:cNvSpPr>
          <p:nvPr/>
        </p:nvSpPr>
        <p:spPr>
          <a:xfrm>
            <a:off x="571500" y="5562600"/>
            <a:ext cx="2333625" cy="5143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825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הורדה ברורה של התוצר ולא מסך ללא מוצא</a:t>
            </a:r>
          </a:p>
        </p:txBody>
      </p:sp>
      <p:sp>
        <p:nvSpPr>
          <p:cNvPr id="72" name="מלבן 71">
            <a:extLst>
              <a:ext uri="{FF2B5EF4-FFF2-40B4-BE49-F238E27FC236}">
                <a16:creationId xmlns:a16="http://schemas.microsoft.com/office/drawing/2014/main" id="{B778CEDC-04FF-46A5-8990-BFA7D49FFCD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74" name="מלבן 73">
            <a:extLst>
              <a:ext uri="{FF2B5EF4-FFF2-40B4-BE49-F238E27FC236}">
                <a16:creationId xmlns:a16="http://schemas.microsoft.com/office/drawing/2014/main" id="{B1772EC6-A5C0-4E51-8C76-019D79A2880A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9134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-marker">
            <a:extLst>
              <a:ext uri="{FF2B5EF4-FFF2-40B4-BE49-F238E27FC236}">
                <a16:creationId xmlns:a16="http://schemas.microsoft.com/office/drawing/2014/main" id="{CCE93222-FE3F-4625-B2D9-80F9F9BE841C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C48A2E2E-44E4-479E-A97F-B6BB317CE76F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83A"/>
                </a:solidFill>
                <a:latin typeface="Arial"/>
                <a:ea typeface="Arial"/>
                <a:cs typeface="Arial"/>
              </a:defRPr>
            </a:pPr>
            <a:r>
              <a:t>UI DECISIONS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BD1FF4AB-2057-4310-AB29-5E3ED92257CE}"/>
              </a:ext>
            </a:extLst>
          </p:cNvPr>
          <p:cNvSpPr>
            <a:spLocks noGrp="1"/>
          </p:cNvSpPr>
          <p:nvPr/>
        </p:nvSpPr>
        <p:spPr>
          <a:xfrm>
            <a:off x="4762500" y="590550"/>
            <a:ext cx="6762750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1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/>
              <a:t>UI </a:t>
            </a:r>
            <a:r>
              <a:rPr lang="he-IL" dirty="0"/>
              <a:t> </a:t>
            </a:r>
            <a:r>
              <a:rPr dirty="0" err="1"/>
              <a:t>ברור</a:t>
            </a:r>
            <a:r>
              <a:rPr dirty="0"/>
              <a:t> </a:t>
            </a:r>
            <a:r>
              <a:rPr dirty="0" err="1"/>
              <a:t>הופך</a:t>
            </a:r>
            <a:r>
              <a:rPr dirty="0"/>
              <a:t> </a:t>
            </a:r>
            <a:r>
              <a:rPr dirty="0" err="1"/>
              <a:t>החלטותAI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 err="1"/>
              <a:t>לאמינות</a:t>
            </a:r>
            <a:r>
              <a:rPr dirty="0"/>
              <a:t> </a:t>
            </a:r>
            <a:r>
              <a:rPr dirty="0" err="1"/>
              <a:t>יותר</a:t>
            </a:r>
            <a:r>
              <a:rPr dirty="0"/>
              <a:t>.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6CD4F8F2-B2E3-4BB8-9473-0991BD540A35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69532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AFC2CB"/>
            </a:solidFill>
          </a:ln>
        </p:spPr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EE0D6AB1-2770-45C3-93A3-4DCB295E6110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6953250" cy="266700"/>
          </a:xfrm>
          <a:prstGeom prst="roundRect">
            <a:avLst>
              <a:gd name="adj" fmla="val 28571"/>
            </a:avLst>
          </a:prstGeom>
          <a:solidFill>
            <a:srgbClr val="DDE8EC"/>
          </a:solidFill>
          <a:ln w="0">
            <a:solidFill>
              <a:srgbClr val="DDE8EC"/>
            </a:solidFill>
          </a:ln>
        </p:spPr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017D9B35-4661-493B-B620-C3410D2429F7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76200" cy="76200"/>
          </a:xfrm>
          <a:prstGeom prst="ellipse">
            <a:avLst/>
          </a:prstGeom>
          <a:solidFill>
            <a:srgbClr val="FF7A72"/>
          </a:solidFill>
          <a:ln w="0">
            <a:solidFill>
              <a:srgbClr val="FF7A72"/>
            </a:solidFill>
          </a:ln>
        </p:spPr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8F6B4F2A-F6F7-4F52-BC9F-735DE0F3D38B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76200" cy="762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FA5DA3B3-318A-4B21-ACAF-B94E8DA53F41}"/>
              </a:ext>
            </a:extLst>
          </p:cNvPr>
          <p:cNvSpPr>
            <a:spLocks noGrp="1"/>
          </p:cNvSpPr>
          <p:nvPr/>
        </p:nvSpPr>
        <p:spPr>
          <a:xfrm>
            <a:off x="971550" y="1885950"/>
            <a:ext cx="76200" cy="7620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D405E1EE-736C-467F-89CD-B78B75FFEAAB}"/>
              </a:ext>
            </a:extLst>
          </p:cNvPr>
          <p:cNvSpPr>
            <a:spLocks noGrp="1"/>
          </p:cNvSpPr>
          <p:nvPr/>
        </p:nvSpPr>
        <p:spPr>
          <a:xfrm>
            <a:off x="4524375" y="2209800"/>
            <a:ext cx="2619375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485"/>
          </a:bodyPr>
          <a:lstStyle/>
          <a:p>
            <a:pPr algn="r" rtl="1">
              <a:defRPr sz="16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Backend Developer</a:t>
            </a: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918896A6-3DB7-444D-AC08-2B40AFBBB5B8}"/>
              </a:ext>
            </a:extLst>
          </p:cNvPr>
          <p:cNvSpPr>
            <a:spLocks noGrp="1"/>
          </p:cNvSpPr>
          <p:nvPr/>
        </p:nvSpPr>
        <p:spPr>
          <a:xfrm>
            <a:off x="876300" y="2181225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התאמה גבוהה</a:t>
            </a:r>
          </a:p>
        </p:txBody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4E6117DA-7833-4D84-B42C-589BD3D5B751}"/>
              </a:ext>
            </a:extLst>
          </p:cNvPr>
          <p:cNvSpPr>
            <a:spLocks noGrp="1"/>
          </p:cNvSpPr>
          <p:nvPr/>
        </p:nvSpPr>
        <p:spPr>
          <a:xfrm>
            <a:off x="2190750" y="2057400"/>
            <a:ext cx="723900" cy="723900"/>
          </a:xfrm>
          <a:prstGeom prst="ellipse">
            <a:avLst/>
          </a:prstGeom>
          <a:solidFill>
            <a:srgbClr val="F5F8FA"/>
          </a:solidFill>
          <a:ln w="7620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180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92%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5069F203-3239-4DB6-921C-441412FBFDE7}"/>
              </a:ext>
            </a:extLst>
          </p:cNvPr>
          <p:cNvSpPr>
            <a:spLocks noGrp="1"/>
          </p:cNvSpPr>
          <p:nvPr/>
        </p:nvSpPr>
        <p:spPr>
          <a:xfrm>
            <a:off x="4524375" y="2714625"/>
            <a:ext cx="2619375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למה זה מתאים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A4E14D57-F378-498E-BE10-6AAAEAFD48CE}"/>
              </a:ext>
            </a:extLst>
          </p:cNvPr>
          <p:cNvSpPr>
            <a:spLocks noGrp="1"/>
          </p:cNvSpPr>
          <p:nvPr/>
        </p:nvSpPr>
        <p:spPr>
          <a:xfrm>
            <a:off x="2533650" y="3009900"/>
            <a:ext cx="4610100" cy="571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1050" b="0">
                <a:solidFill>
                  <a:srgbClr val="526C78"/>
                </a:solidFill>
                <a:latin typeface="Arial"/>
                <a:ea typeface="Arial"/>
                <a:cs typeface="Arial"/>
              </a:defRPr>
            </a:pPr>
            <a:r>
              <a:rPr lang="he-IL" dirty="0" err="1"/>
              <a:t>נסיון</a:t>
            </a:r>
            <a:r>
              <a:rPr lang="he-IL" dirty="0"/>
              <a:t> ב־</a:t>
            </a:r>
            <a:r>
              <a:rPr lang="en-US" dirty="0"/>
              <a:t> Node.js </a:t>
            </a:r>
            <a:r>
              <a:rPr lang="he-IL" dirty="0" err="1"/>
              <a:t>וב</a:t>
            </a:r>
            <a:r>
              <a:rPr lang="he-IL" dirty="0"/>
              <a:t>־</a:t>
            </a:r>
            <a:r>
              <a:rPr lang="en-US" dirty="0"/>
              <a:t>REST API</a:t>
            </a:r>
            <a:r>
              <a:rPr lang="he-IL" dirty="0"/>
              <a:t> תואם לדרישות הליבה. יש פער ממוקד ב־</a:t>
            </a:r>
            <a:r>
              <a:rPr lang="en-US" dirty="0"/>
              <a:t>Docker</a:t>
            </a:r>
            <a:r>
              <a:rPr lang="he-IL" dirty="0"/>
              <a:t>.</a:t>
            </a:r>
            <a:endParaRPr lang="en-US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8C0D28E1-03D9-4244-B83D-0C65FA1DC455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6286500" cy="9525"/>
          </a:xfrm>
          <a:prstGeom prst="rect">
            <a:avLst/>
          </a:prstGeom>
          <a:solidFill>
            <a:srgbClr val="D7E4E8"/>
          </a:solidFill>
          <a:ln w="0">
            <a:solidFill>
              <a:srgbClr val="D7E4E8"/>
            </a:solidFill>
          </a:ln>
        </p:spPr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AE240C89-EA90-49F9-B360-30E80DBCC384}"/>
              </a:ext>
            </a:extLst>
          </p:cNvPr>
          <p:cNvSpPr>
            <a:spLocks noGrp="1"/>
          </p:cNvSpPr>
          <p:nvPr/>
        </p:nvSpPr>
        <p:spPr>
          <a:xfrm>
            <a:off x="4524375" y="3905250"/>
            <a:ext cx="2619375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פערים לשיפור</a:t>
            </a:r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ABC6E5B4-D6BA-41F7-AB4E-241B5604BA49}"/>
              </a:ext>
            </a:extLst>
          </p:cNvPr>
          <p:cNvSpPr>
            <a:spLocks noGrp="1"/>
          </p:cNvSpPr>
          <p:nvPr/>
        </p:nvSpPr>
        <p:spPr>
          <a:xfrm>
            <a:off x="5286375" y="4267200"/>
            <a:ext cx="81915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Docker</a:t>
            </a: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E63FAAA6-6283-4B40-AC87-4EA7C89D7127}"/>
              </a:ext>
            </a:extLst>
          </p:cNvPr>
          <p:cNvSpPr>
            <a:spLocks noGrp="1"/>
          </p:cNvSpPr>
          <p:nvPr/>
        </p:nvSpPr>
        <p:spPr>
          <a:xfrm>
            <a:off x="4333875" y="4267200"/>
            <a:ext cx="81915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Testing</a:t>
            </a:r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56260D4D-6FD7-42F7-B157-CD6168EF485F}"/>
              </a:ext>
            </a:extLst>
          </p:cNvPr>
          <p:cNvSpPr>
            <a:spLocks noGrp="1"/>
          </p:cNvSpPr>
          <p:nvPr/>
        </p:nvSpPr>
        <p:spPr>
          <a:xfrm>
            <a:off x="3381375" y="4267200"/>
            <a:ext cx="81915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Cloud</a:t>
            </a:r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AAEFFD33-2A89-4F2F-97CF-36585CF6FAD2}"/>
              </a:ext>
            </a:extLst>
          </p:cNvPr>
          <p:cNvSpPr>
            <a:spLocks noGrp="1"/>
          </p:cNvSpPr>
          <p:nvPr/>
        </p:nvSpPr>
        <p:spPr>
          <a:xfrm>
            <a:off x="857250" y="4714875"/>
            <a:ext cx="6286500" cy="685800"/>
          </a:xfrm>
          <a:prstGeom prst="roundRect">
            <a:avLst>
              <a:gd name="adj" fmla="val 11111"/>
            </a:avLst>
          </a:prstGeom>
          <a:solidFill>
            <a:srgbClr val="E9F4F3"/>
          </a:solidFill>
          <a:ln w="0">
            <a:solidFill>
              <a:srgbClr val="E9F4F3"/>
            </a:solidFill>
          </a:ln>
        </p:spPr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4C2FC140-AF12-4B58-9BF8-2CC43DBE0B1E}"/>
              </a:ext>
            </a:extLst>
          </p:cNvPr>
          <p:cNvSpPr>
            <a:spLocks noGrp="1"/>
          </p:cNvSpPr>
          <p:nvPr/>
        </p:nvSpPr>
        <p:spPr>
          <a:xfrm>
            <a:off x="1095375" y="4857750"/>
            <a:ext cx="58102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050" b="0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הצעה</a:t>
            </a:r>
            <a:r>
              <a:rPr dirty="0"/>
              <a:t>:</a:t>
            </a:r>
            <a:r>
              <a:rPr lang="he-IL" dirty="0"/>
              <a:t> </a:t>
            </a:r>
            <a:r>
              <a:rPr dirty="0" err="1"/>
              <a:t>הוסף</a:t>
            </a:r>
            <a:r>
              <a:rPr dirty="0"/>
              <a:t> </a:t>
            </a:r>
            <a:r>
              <a:rPr dirty="0" err="1"/>
              <a:t>משפט</a:t>
            </a:r>
            <a:r>
              <a:rPr dirty="0"/>
              <a:t> </a:t>
            </a:r>
            <a:r>
              <a:rPr dirty="0" err="1"/>
              <a:t>שמדגיש</a:t>
            </a:r>
            <a:r>
              <a:rPr dirty="0"/>
              <a:t> </a:t>
            </a:r>
            <a:r>
              <a:rPr dirty="0" err="1"/>
              <a:t>תהליךdeployment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 err="1"/>
              <a:t>והיכרות</a:t>
            </a:r>
            <a:r>
              <a:rPr dirty="0"/>
              <a:t> </a:t>
            </a:r>
            <a:r>
              <a:rPr dirty="0" err="1"/>
              <a:t>עם</a:t>
            </a:r>
            <a:r>
              <a:rPr dirty="0"/>
              <a:t> </a:t>
            </a:r>
            <a:r>
              <a:rPr dirty="0" err="1"/>
              <a:t>סביבת</a:t>
            </a:r>
            <a:r>
              <a:rPr dirty="0"/>
              <a:t> </a:t>
            </a:r>
            <a:r>
              <a:rPr dirty="0" err="1"/>
              <a:t>ענן</a:t>
            </a:r>
            <a:r>
              <a:rPr dirty="0"/>
              <a:t>.</a:t>
            </a:r>
          </a:p>
        </p:txBody>
      </p:sp>
      <p:sp>
        <p:nvSpPr>
          <p:cNvPr id="21" name="מלבן: פינות מעוגלות 20">
            <a:extLst>
              <a:ext uri="{FF2B5EF4-FFF2-40B4-BE49-F238E27FC236}">
                <a16:creationId xmlns:a16="http://schemas.microsoft.com/office/drawing/2014/main" id="{0E79B660-5CF7-4845-971A-B9A7F1B2EC70}"/>
              </a:ext>
            </a:extLst>
          </p:cNvPr>
          <p:cNvSpPr>
            <a:spLocks noGrp="1"/>
          </p:cNvSpPr>
          <p:nvPr/>
        </p:nvSpPr>
        <p:spPr>
          <a:xfrm>
            <a:off x="4857750" y="5467350"/>
            <a:ext cx="2286000" cy="285750"/>
          </a:xfrm>
          <a:prstGeom prst="roundRect">
            <a:avLst>
              <a:gd name="adj" fmla="val 26667"/>
            </a:avLst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יצירת</a:t>
            </a:r>
            <a:r>
              <a:rPr dirty="0"/>
              <a:t> PDF</a:t>
            </a:r>
            <a:r>
              <a:rPr lang="he-IL" dirty="0"/>
              <a:t> </a:t>
            </a:r>
            <a:r>
              <a:rPr dirty="0" err="1"/>
              <a:t>משופר</a:t>
            </a:r>
            <a:endParaRPr dirty="0"/>
          </a:p>
        </p:txBody>
      </p:sp>
      <p:sp>
        <p:nvSpPr>
          <p:cNvPr id="22" name="אליפסה 21">
            <a:extLst>
              <a:ext uri="{FF2B5EF4-FFF2-40B4-BE49-F238E27FC236}">
                <a16:creationId xmlns:a16="http://schemas.microsoft.com/office/drawing/2014/main" id="{A8A12001-B1BE-4867-B30C-4F296CCD426B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400050" cy="4000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C2534E49-70A5-4D52-9EC9-A4CDA69621F7}"/>
              </a:ext>
            </a:extLst>
          </p:cNvPr>
          <p:cNvSpPr>
            <a:spLocks noGrp="1"/>
          </p:cNvSpPr>
          <p:nvPr/>
        </p:nvSpPr>
        <p:spPr>
          <a:xfrm>
            <a:off x="7905750" y="2162175"/>
            <a:ext cx="25717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039"/>
          </a:bodyPr>
          <a:lstStyle/>
          <a:p>
            <a:pPr algn="r" rtl="1">
              <a:defRPr sz="12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היררכיה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23FC8601-62C3-4941-8614-C8376959E350}"/>
              </a:ext>
            </a:extLst>
          </p:cNvPr>
          <p:cNvSpPr>
            <a:spLocks noGrp="1"/>
          </p:cNvSpPr>
          <p:nvPr/>
        </p:nvSpPr>
        <p:spPr>
          <a:xfrm>
            <a:off x="7905750" y="2457450"/>
            <a:ext cx="2571750" cy="5143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75" b="0">
                <a:solidFill>
                  <a:srgbClr val="5B7480"/>
                </a:solidFill>
                <a:latin typeface="Arial"/>
                <a:ea typeface="Arial"/>
                <a:cs typeface="Arial"/>
              </a:defRPr>
            </a:pPr>
            <a:r>
              <a:t>התפקיד וההתאמה מופיעים לפני הפירוט.</a:t>
            </a: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C22D20A9-CA53-48E0-A856-576EB5AC42BB}"/>
              </a:ext>
            </a:extLst>
          </p:cNvPr>
          <p:cNvSpPr>
            <a:spLocks noGrp="1"/>
          </p:cNvSpPr>
          <p:nvPr/>
        </p:nvSpPr>
        <p:spPr>
          <a:xfrm>
            <a:off x="7905750" y="3095625"/>
            <a:ext cx="3190875" cy="9525"/>
          </a:xfrm>
          <a:prstGeom prst="rect">
            <a:avLst/>
          </a:prstGeom>
          <a:solidFill>
            <a:srgbClr val="CCDCE1"/>
          </a:solidFill>
          <a:ln w="0">
            <a:solidFill>
              <a:srgbClr val="CCDCE1"/>
            </a:solidFill>
          </a:ln>
        </p:spPr>
      </p:sp>
      <p:sp>
        <p:nvSpPr>
          <p:cNvPr id="26" name="אליפסה 25">
            <a:extLst>
              <a:ext uri="{FF2B5EF4-FFF2-40B4-BE49-F238E27FC236}">
                <a16:creationId xmlns:a16="http://schemas.microsoft.com/office/drawing/2014/main" id="{C382567F-1506-481D-918F-21B27162A012}"/>
              </a:ext>
            </a:extLst>
          </p:cNvPr>
          <p:cNvSpPr>
            <a:spLocks noGrp="1"/>
          </p:cNvSpPr>
          <p:nvPr/>
        </p:nvSpPr>
        <p:spPr>
          <a:xfrm>
            <a:off x="10687050" y="3390900"/>
            <a:ext cx="400050" cy="4000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5547F6E9-6D23-4915-93AE-DA2850F3ECD3}"/>
              </a:ext>
            </a:extLst>
          </p:cNvPr>
          <p:cNvSpPr>
            <a:spLocks noGrp="1"/>
          </p:cNvSpPr>
          <p:nvPr/>
        </p:nvSpPr>
        <p:spPr>
          <a:xfrm>
            <a:off x="7905750" y="3362325"/>
            <a:ext cx="25717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039"/>
          </a:bodyPr>
          <a:lstStyle/>
          <a:p>
            <a:pPr algn="r" rtl="1">
              <a:defRPr sz="12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שקיפות</a:t>
            </a:r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BF03E2A0-ACF1-4105-A382-2204E821B060}"/>
              </a:ext>
            </a:extLst>
          </p:cNvPr>
          <p:cNvSpPr>
            <a:spLocks noGrp="1"/>
          </p:cNvSpPr>
          <p:nvPr/>
        </p:nvSpPr>
        <p:spPr>
          <a:xfrm>
            <a:off x="7905750" y="3657600"/>
            <a:ext cx="2571750" cy="5143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75" b="0">
                <a:solidFill>
                  <a:srgbClr val="5B7480"/>
                </a:solidFill>
                <a:latin typeface="Arial"/>
                <a:ea typeface="Arial"/>
                <a:cs typeface="Arial"/>
              </a:defRPr>
            </a:pPr>
            <a:r>
              <a:t>המערכת מסבירה התאמה ופערים בשפה אנושית.</a:t>
            </a: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2C1B5726-AA05-4656-B555-2F61E5666ACC}"/>
              </a:ext>
            </a:extLst>
          </p:cNvPr>
          <p:cNvSpPr>
            <a:spLocks noGrp="1"/>
          </p:cNvSpPr>
          <p:nvPr/>
        </p:nvSpPr>
        <p:spPr>
          <a:xfrm>
            <a:off x="7905750" y="4295775"/>
            <a:ext cx="3190875" cy="9525"/>
          </a:xfrm>
          <a:prstGeom prst="rect">
            <a:avLst/>
          </a:prstGeom>
          <a:solidFill>
            <a:srgbClr val="CCDCE1"/>
          </a:solidFill>
          <a:ln w="0">
            <a:solidFill>
              <a:srgbClr val="CCDCE1"/>
            </a:solidFill>
          </a:ln>
        </p:spPr>
      </p:sp>
      <p:sp>
        <p:nvSpPr>
          <p:cNvPr id="30" name="אליפסה 29">
            <a:extLst>
              <a:ext uri="{FF2B5EF4-FFF2-40B4-BE49-F238E27FC236}">
                <a16:creationId xmlns:a16="http://schemas.microsoft.com/office/drawing/2014/main" id="{CDB20935-F0A8-48EB-81EA-5375B424C6F7}"/>
              </a:ext>
            </a:extLst>
          </p:cNvPr>
          <p:cNvSpPr>
            <a:spLocks noGrp="1"/>
          </p:cNvSpPr>
          <p:nvPr/>
        </p:nvSpPr>
        <p:spPr>
          <a:xfrm>
            <a:off x="10687050" y="4591050"/>
            <a:ext cx="400050" cy="40005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F39259B8-6201-43DC-8769-82A2E7121216}"/>
              </a:ext>
            </a:extLst>
          </p:cNvPr>
          <p:cNvSpPr>
            <a:spLocks noGrp="1"/>
          </p:cNvSpPr>
          <p:nvPr/>
        </p:nvSpPr>
        <p:spPr>
          <a:xfrm>
            <a:off x="7905750" y="4562475"/>
            <a:ext cx="25717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8039"/>
          </a:bodyPr>
          <a:lstStyle/>
          <a:p>
            <a:pPr algn="r" rtl="1">
              <a:defRPr sz="12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פעולה</a:t>
            </a:r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5EBA1982-B74E-42D4-8B85-57BDEA10AD7B}"/>
              </a:ext>
            </a:extLst>
          </p:cNvPr>
          <p:cNvSpPr>
            <a:spLocks noGrp="1"/>
          </p:cNvSpPr>
          <p:nvPr/>
        </p:nvSpPr>
        <p:spPr>
          <a:xfrm>
            <a:off x="7905750" y="4857750"/>
            <a:ext cx="2571750" cy="5143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75" b="0">
                <a:solidFill>
                  <a:srgbClr val="5B7480"/>
                </a:solidFill>
                <a:latin typeface="Arial"/>
                <a:ea typeface="Arial"/>
                <a:cs typeface="Arial"/>
              </a:defRPr>
            </a:pPr>
            <a:r>
              <a:t>כל מסך מסתיים בצעד הבא הברור ביותר.</a:t>
            </a:r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06687FC7-5D43-49C9-9FF9-C7370E21FA7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4E0E5"/>
          </a:solidFill>
          <a:ln w="0">
            <a:solidFill>
              <a:srgbClr val="D4E0E5"/>
            </a:solidFill>
          </a:ln>
        </p:spPr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3EF9D599-492A-446F-ABA5-E6FDAC6C3B6A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617986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84643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kicker-marker">
            <a:extLst>
              <a:ext uri="{FF2B5EF4-FFF2-40B4-BE49-F238E27FC236}">
                <a16:creationId xmlns:a16="http://schemas.microsoft.com/office/drawing/2014/main" id="{E7698D4A-6B67-49AF-9C06-5CE3B598B608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D636ABB4-FFB5-4F74-9427-D71DF7D553F9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SYSTEM ARCHITECTURE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BB76C43-EE52-4CA4-81A9-56301203EAE3}"/>
              </a:ext>
            </a:extLst>
          </p:cNvPr>
          <p:cNvSpPr>
            <a:spLocks noGrp="1"/>
          </p:cNvSpPr>
          <p:nvPr/>
        </p:nvSpPr>
        <p:spPr>
          <a:xfrm>
            <a:off x="1524000" y="609600"/>
            <a:ext cx="10001250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 fontScale="99206"/>
          </a:bodyPr>
          <a:lstStyle/>
          <a:p>
            <a: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הארכיטקטורה</a:t>
            </a:r>
            <a:r>
              <a:rPr dirty="0"/>
              <a:t> </a:t>
            </a:r>
            <a:r>
              <a:rPr dirty="0" err="1"/>
              <a:t>מפרידה</a:t>
            </a:r>
            <a:r>
              <a:rPr dirty="0"/>
              <a:t> </a:t>
            </a:r>
            <a:r>
              <a:rPr dirty="0" err="1"/>
              <a:t>בין</a:t>
            </a:r>
            <a:r>
              <a:rPr dirty="0"/>
              <a:t> </a:t>
            </a:r>
            <a:r>
              <a:rPr dirty="0" err="1"/>
              <a:t>החוויה</a:t>
            </a:r>
            <a:r>
              <a:rPr lang="he-IL" dirty="0"/>
              <a:t>,</a:t>
            </a:r>
            <a:r>
              <a:rPr dirty="0"/>
              <a:t> </a:t>
            </a:r>
            <a:r>
              <a:rPr dirty="0" err="1"/>
              <a:t>האינטליגנציה</a:t>
            </a:r>
            <a:r>
              <a:rPr dirty="0"/>
              <a:t> </a:t>
            </a:r>
            <a:r>
              <a:rPr dirty="0" err="1"/>
              <a:t>והמסמכים</a:t>
            </a:r>
            <a:r>
              <a:rPr dirty="0"/>
              <a:t>.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67183ADC-7B98-4FD3-94D9-3BFDA6A0D886}"/>
              </a:ext>
            </a:extLst>
          </p:cNvPr>
          <p:cNvSpPr>
            <a:spLocks noGrp="1"/>
          </p:cNvSpPr>
          <p:nvPr/>
        </p:nvSpPr>
        <p:spPr>
          <a:xfrm>
            <a:off x="8953500" y="2095500"/>
            <a:ext cx="2190750" cy="1123950"/>
          </a:xfrm>
          <a:prstGeom prst="roundRect">
            <a:avLst>
              <a:gd name="adj" fmla="val 6780"/>
            </a:avLst>
          </a:prstGeom>
          <a:solidFill>
            <a:srgbClr val="F5F8FA"/>
          </a:solidFill>
          <a:ln w="9525">
            <a:solidFill>
              <a:srgbClr val="4B6978"/>
            </a:solidFill>
          </a:ln>
        </p:spPr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90CC4D79-9986-4ED5-AE13-03FFE11B0972}"/>
              </a:ext>
            </a:extLst>
          </p:cNvPr>
          <p:cNvSpPr>
            <a:spLocks noGrp="1"/>
          </p:cNvSpPr>
          <p:nvPr/>
        </p:nvSpPr>
        <p:spPr>
          <a:xfrm>
            <a:off x="9124950" y="2266950"/>
            <a:ext cx="1847850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ממשק משתמש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3D011613-C9E3-4BA2-9B91-246C54E591EA}"/>
              </a:ext>
            </a:extLst>
          </p:cNvPr>
          <p:cNvSpPr>
            <a:spLocks noGrp="1"/>
          </p:cNvSpPr>
          <p:nvPr/>
        </p:nvSpPr>
        <p:spPr>
          <a:xfrm>
            <a:off x="9124950" y="2609850"/>
            <a:ext cx="184785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00" b="0">
                <a:solidFill>
                  <a:srgbClr val="405B68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העלאה • תוצאות • הורדה</a:t>
            </a: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75FB5A70-57F7-462D-8489-0A3685A7ABF1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2190750" cy="1123950"/>
          </a:xfrm>
          <a:prstGeom prst="roundRect">
            <a:avLst>
              <a:gd name="adj" fmla="val 6780"/>
            </a:avLst>
          </a:prstGeom>
          <a:solidFill>
            <a:srgbClr val="35D0C7"/>
          </a:solidFill>
          <a:ln w="9525">
            <a:solidFill>
              <a:srgbClr val="4B6978"/>
            </a:solidFill>
          </a:ln>
        </p:spPr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01486E26-BE16-4772-9F3C-BD469CCBECA5}"/>
              </a:ext>
            </a:extLst>
          </p:cNvPr>
          <p:cNvSpPr>
            <a:spLocks noGrp="1"/>
          </p:cNvSpPr>
          <p:nvPr/>
        </p:nvSpPr>
        <p:spPr>
          <a:xfrm>
            <a:off x="6648450" y="2266950"/>
            <a:ext cx="1847850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Express API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464D70B7-C984-40E2-B5AD-93D1434A4B18}"/>
              </a:ext>
            </a:extLst>
          </p:cNvPr>
          <p:cNvSpPr>
            <a:spLocks noGrp="1"/>
          </p:cNvSpPr>
          <p:nvPr/>
        </p:nvSpPr>
        <p:spPr>
          <a:xfrm>
            <a:off x="6648450" y="2609850"/>
            <a:ext cx="184785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00" b="0">
                <a:solidFill>
                  <a:srgbClr val="405B68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אימות • </a:t>
            </a:r>
            <a:r>
              <a:rPr lang="en-US" dirty="0"/>
              <a:t>orchestration • errors</a:t>
            </a: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1D5D9A41-1941-4523-B8E1-6224537157B0}"/>
              </a:ext>
            </a:extLst>
          </p:cNvPr>
          <p:cNvSpPr>
            <a:spLocks noGrp="1"/>
          </p:cNvSpPr>
          <p:nvPr/>
        </p:nvSpPr>
        <p:spPr>
          <a:xfrm>
            <a:off x="3762375" y="1762125"/>
            <a:ext cx="2190750" cy="904875"/>
          </a:xfrm>
          <a:prstGeom prst="roundRect">
            <a:avLst>
              <a:gd name="adj" fmla="val 8421"/>
            </a:avLst>
          </a:prstGeom>
          <a:solidFill>
            <a:srgbClr val="B8E36B"/>
          </a:solidFill>
          <a:ln w="9525">
            <a:solidFill>
              <a:srgbClr val="4B6978"/>
            </a:solidFill>
          </a:ln>
        </p:spPr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37F6489D-0DDC-4392-A689-71A00D94EB71}"/>
              </a:ext>
            </a:extLst>
          </p:cNvPr>
          <p:cNvSpPr>
            <a:spLocks noGrp="1"/>
          </p:cNvSpPr>
          <p:nvPr/>
        </p:nvSpPr>
        <p:spPr>
          <a:xfrm>
            <a:off x="3933825" y="1933575"/>
            <a:ext cx="1847850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Gemini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FE7C3471-5FC2-462C-B290-55D517D9828C}"/>
              </a:ext>
            </a:extLst>
          </p:cNvPr>
          <p:cNvSpPr>
            <a:spLocks noGrp="1"/>
          </p:cNvSpPr>
          <p:nvPr/>
        </p:nvSpPr>
        <p:spPr>
          <a:xfrm>
            <a:off x="3933825" y="2276475"/>
            <a:ext cx="1847850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00" b="0">
                <a:solidFill>
                  <a:srgbClr val="405B68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חילוץ כישורים + שיפור</a:t>
            </a: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B27F05EF-99A5-43FF-B55C-809102DD7219}"/>
              </a:ext>
            </a:extLst>
          </p:cNvPr>
          <p:cNvSpPr>
            <a:spLocks noGrp="1"/>
          </p:cNvSpPr>
          <p:nvPr/>
        </p:nvSpPr>
        <p:spPr>
          <a:xfrm>
            <a:off x="3762375" y="2857500"/>
            <a:ext cx="2190750" cy="904875"/>
          </a:xfrm>
          <a:prstGeom prst="roundRect">
            <a:avLst>
              <a:gd name="adj" fmla="val 8421"/>
            </a:avLst>
          </a:prstGeom>
          <a:solidFill>
            <a:srgbClr val="FFB45C"/>
          </a:solidFill>
          <a:ln w="9525">
            <a:solidFill>
              <a:srgbClr val="4B6978"/>
            </a:solidFill>
          </a:ln>
        </p:spPr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43BFDC4C-B1BD-480D-98B4-296D15374FE0}"/>
              </a:ext>
            </a:extLst>
          </p:cNvPr>
          <p:cNvSpPr>
            <a:spLocks noGrp="1"/>
          </p:cNvSpPr>
          <p:nvPr/>
        </p:nvSpPr>
        <p:spPr>
          <a:xfrm>
            <a:off x="3933825" y="3028950"/>
            <a:ext cx="1847850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SerpApi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A5D4A356-5854-4758-90A5-BD9310AEA034}"/>
              </a:ext>
            </a:extLst>
          </p:cNvPr>
          <p:cNvSpPr>
            <a:spLocks noGrp="1"/>
          </p:cNvSpPr>
          <p:nvPr/>
        </p:nvSpPr>
        <p:spPr>
          <a:xfrm>
            <a:off x="3933825" y="3371850"/>
            <a:ext cx="1847850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00" b="0">
                <a:solidFill>
                  <a:srgbClr val="405B68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חיפוש משרות + סינון</a:t>
            </a:r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62F6659C-D652-48AA-8EA6-FDB80523F104}"/>
              </a:ext>
            </a:extLst>
          </p:cNvPr>
          <p:cNvSpPr>
            <a:spLocks noGrp="1"/>
          </p:cNvSpPr>
          <p:nvPr/>
        </p:nvSpPr>
        <p:spPr>
          <a:xfrm>
            <a:off x="1047750" y="1762125"/>
            <a:ext cx="2190750" cy="904875"/>
          </a:xfrm>
          <a:prstGeom prst="roundRect">
            <a:avLst>
              <a:gd name="adj" fmla="val 8421"/>
            </a:avLst>
          </a:prstGeom>
          <a:solidFill>
            <a:srgbClr val="F5F8FA"/>
          </a:solidFill>
          <a:ln w="9525">
            <a:solidFill>
              <a:srgbClr val="4B6978"/>
            </a:solidFill>
          </a:ln>
        </p:spPr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EA4EA1ED-CCDA-4B19-A3F2-117626F4D664}"/>
              </a:ext>
            </a:extLst>
          </p:cNvPr>
          <p:cNvSpPr>
            <a:spLocks noGrp="1"/>
          </p:cNvSpPr>
          <p:nvPr/>
        </p:nvSpPr>
        <p:spPr>
          <a:xfrm>
            <a:off x="1219200" y="1933575"/>
            <a:ext cx="1847850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PDF Service</a:t>
            </a: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9CFCB2C6-50B5-4941-B68E-1F826CF5E1C7}"/>
              </a:ext>
            </a:extLst>
          </p:cNvPr>
          <p:cNvSpPr>
            <a:spLocks noGrp="1"/>
          </p:cNvSpPr>
          <p:nvPr/>
        </p:nvSpPr>
        <p:spPr>
          <a:xfrm>
            <a:off x="1219200" y="2276475"/>
            <a:ext cx="1847850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00" b="0">
                <a:solidFill>
                  <a:srgbClr val="405B68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קליטה + יצירת מסמך</a:t>
            </a:r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39F099A6-417C-486A-8487-04F54D7ADD14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2190750" cy="904875"/>
          </a:xfrm>
          <a:prstGeom prst="roundRect">
            <a:avLst>
              <a:gd name="adj" fmla="val 8421"/>
            </a:avLst>
          </a:prstGeom>
          <a:solidFill>
            <a:srgbClr val="153447"/>
          </a:solidFill>
          <a:ln w="9525">
            <a:solidFill>
              <a:srgbClr val="4B6978"/>
            </a:solidFill>
          </a:ln>
        </p:spPr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4BF2BD2E-0DA9-409F-9D61-D64F6EB32B5E}"/>
              </a:ext>
            </a:extLst>
          </p:cNvPr>
          <p:cNvSpPr>
            <a:spLocks noGrp="1"/>
          </p:cNvSpPr>
          <p:nvPr/>
        </p:nvSpPr>
        <p:spPr>
          <a:xfrm>
            <a:off x="1219200" y="3028950"/>
            <a:ext cx="1847850" cy="3048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MongoDB Atlas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C7583D6B-F8F1-434F-8F86-8AAFE4950510}"/>
              </a:ext>
            </a:extLst>
          </p:cNvPr>
          <p:cNvSpPr>
            <a:spLocks noGrp="1"/>
          </p:cNvSpPr>
          <p:nvPr/>
        </p:nvSpPr>
        <p:spPr>
          <a:xfrm>
            <a:off x="1219200" y="3371850"/>
            <a:ext cx="1847850" cy="23812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t">
            <a:normAutofit/>
          </a:bodyPr>
          <a:lstStyle/>
          <a:p>
            <a:pPr algn="r" rtl="1">
              <a:defRPr sz="90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מצב תהליך + תוצאות</a:t>
            </a:r>
          </a:p>
        </p:txBody>
      </p:sp>
      <p:cxnSp>
        <p:nvCxnSpPr>
          <p:cNvPr id="22" name="מחבר חץ ישר 21"/>
          <p:cNvCxnSpPr>
            <a:cxnSpLocks/>
          </p:cNvCxnSpPr>
          <p:nvPr/>
        </p:nvCxnSpPr>
        <p:spPr>
          <a:xfrm>
            <a:off x="8686800" y="2657475"/>
            <a:ext cx="361950" cy="0"/>
          </a:xfrm>
          <a:prstGeom prst="straightConnector1">
            <a:avLst/>
          </a:prstGeom>
          <a:ln w="28575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23" name="מחבר חץ ישר 22"/>
          <p:cNvCxnSpPr>
            <a:cxnSpLocks/>
          </p:cNvCxnSpPr>
          <p:nvPr/>
        </p:nvCxnSpPr>
        <p:spPr>
          <a:xfrm>
            <a:off x="5976937" y="2095500"/>
            <a:ext cx="509588" cy="323850"/>
          </a:xfrm>
          <a:prstGeom prst="straightConnector1">
            <a:avLst/>
          </a:prstGeom>
          <a:ln w="19050">
            <a:solidFill>
              <a:srgbClr val="B8E36B"/>
            </a:solidFill>
            <a:prstDash val="solid"/>
            <a:headEnd type="arrow" w="med" len="med"/>
          </a:ln>
        </p:spPr>
      </p:cxnSp>
      <p:cxnSp>
        <p:nvCxnSpPr>
          <p:cNvPr id="24" name="מחבר חץ ישר 23"/>
          <p:cNvCxnSpPr>
            <a:cxnSpLocks/>
          </p:cNvCxnSpPr>
          <p:nvPr/>
        </p:nvCxnSpPr>
        <p:spPr>
          <a:xfrm flipV="1">
            <a:off x="5986463" y="2952750"/>
            <a:ext cx="500062" cy="419100"/>
          </a:xfrm>
          <a:prstGeom prst="straightConnector1">
            <a:avLst/>
          </a:prstGeom>
          <a:ln w="19050">
            <a:solidFill>
              <a:srgbClr val="FFB45C"/>
            </a:solidFill>
            <a:prstDash val="solid"/>
            <a:headEnd type="arrow" w="med" len="med"/>
          </a:ln>
        </p:spPr>
      </p:cxnSp>
      <p:cxnSp>
        <p:nvCxnSpPr>
          <p:cNvPr id="25" name="מחבר חץ ישר 24"/>
          <p:cNvCxnSpPr>
            <a:stCxn id="10" idx="1"/>
            <a:endCxn id="16" idx="3"/>
          </p:cNvCxnSpPr>
          <p:nvPr/>
        </p:nvCxnSpPr>
        <p:spPr>
          <a:xfrm flipH="1">
            <a:off x="3238500" y="2214563"/>
            <a:ext cx="523875" cy="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26" name="מחבר חץ ישר 25"/>
          <p:cNvCxnSpPr>
            <a:stCxn id="13" idx="1"/>
            <a:endCxn id="19" idx="3"/>
          </p:cNvCxnSpPr>
          <p:nvPr/>
        </p:nvCxnSpPr>
        <p:spPr>
          <a:xfrm flipH="1">
            <a:off x="3238500" y="3309938"/>
            <a:ext cx="523875" cy="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27" name="מחבר חץ ישר 26"/>
          <p:cNvCxnSpPr>
            <a:stCxn id="16" idx="2"/>
            <a:endCxn id="19" idx="0"/>
          </p:cNvCxnSpPr>
          <p:nvPr/>
        </p:nvCxnSpPr>
        <p:spPr>
          <a:xfrm>
            <a:off x="2143125" y="2667000"/>
            <a:ext cx="0" cy="190500"/>
          </a:xfrm>
          <a:prstGeom prst="straightConnector1">
            <a:avLst/>
          </a:prstGeom>
          <a:ln w="19050">
            <a:solidFill>
              <a:srgbClr val="8FA7B5"/>
            </a:solidFill>
            <a:prstDash val="dash"/>
          </a:ln>
        </p:spPr>
      </p:cxnSp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F7B39768-C197-432D-B2B8-793C0F597B24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10972800" cy="1466850"/>
          </a:xfrm>
          <a:prstGeom prst="roundRect">
            <a:avLst>
              <a:gd name="adj" fmla="val 5195"/>
            </a:avLst>
          </a:prstGeom>
          <a:solidFill>
            <a:srgbClr val="10283A"/>
          </a:solidFill>
          <a:ln w="9525">
            <a:solidFill>
              <a:srgbClr val="2C4C5E"/>
            </a:solidFill>
          </a:ln>
        </p:spPr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95BA741E-8ECC-4428-8991-F29D2CC92D18}"/>
              </a:ext>
            </a:extLst>
          </p:cNvPr>
          <p:cNvSpPr>
            <a:spLocks noGrp="1"/>
          </p:cNvSpPr>
          <p:nvPr/>
        </p:nvSpPr>
        <p:spPr>
          <a:xfrm>
            <a:off x="7229475" y="4495800"/>
            <a:ext cx="3819525" cy="33337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89021"/>
          </a:bodyPr>
          <a:lstStyle/>
          <a:p>
            <a:pPr algn="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גבולות אחריות שמאפשרים שינוי בלי לשבור את כל המערכת</a:t>
            </a:r>
          </a:p>
        </p:txBody>
      </p:sp>
      <p:sp>
        <p:nvSpPr>
          <p:cNvPr id="30" name="מלבן: פינות מעוגלות 29">
            <a:extLst>
              <a:ext uri="{FF2B5EF4-FFF2-40B4-BE49-F238E27FC236}">
                <a16:creationId xmlns:a16="http://schemas.microsoft.com/office/drawing/2014/main" id="{F5BAAF5D-FA38-48E9-8009-6163A2567A5E}"/>
              </a:ext>
            </a:extLst>
          </p:cNvPr>
          <p:cNvSpPr>
            <a:spLocks noGrp="1"/>
          </p:cNvSpPr>
          <p:nvPr/>
        </p:nvSpPr>
        <p:spPr>
          <a:xfrm>
            <a:off x="9525000" y="5010150"/>
            <a:ext cx="857250" cy="285750"/>
          </a:xfrm>
          <a:prstGeom prst="roundRect">
            <a:avLst>
              <a:gd name="adj" fmla="val 26667"/>
            </a:avLst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UX</a:t>
            </a:r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7A289FB0-A6F9-4EDB-9189-D38C77CF26FC}"/>
              </a:ext>
            </a:extLst>
          </p:cNvPr>
          <p:cNvSpPr>
            <a:spLocks noGrp="1"/>
          </p:cNvSpPr>
          <p:nvPr/>
        </p:nvSpPr>
        <p:spPr>
          <a:xfrm>
            <a:off x="8953500" y="5343525"/>
            <a:ext cx="2000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מצבי טעינה, שגיאה והצלחה</a:t>
            </a:r>
          </a:p>
        </p:txBody>
      </p:sp>
      <p:sp>
        <p:nvSpPr>
          <p:cNvPr id="32" name="מלבן: פינות מעוגלות 31">
            <a:extLst>
              <a:ext uri="{FF2B5EF4-FFF2-40B4-BE49-F238E27FC236}">
                <a16:creationId xmlns:a16="http://schemas.microsoft.com/office/drawing/2014/main" id="{8AC223E8-010A-462A-9732-C66456BE6DE0}"/>
              </a:ext>
            </a:extLst>
          </p:cNvPr>
          <p:cNvSpPr>
            <a:spLocks noGrp="1"/>
          </p:cNvSpPr>
          <p:nvPr/>
        </p:nvSpPr>
        <p:spPr>
          <a:xfrm>
            <a:off x="6858000" y="5010150"/>
            <a:ext cx="857250" cy="285750"/>
          </a:xfrm>
          <a:prstGeom prst="roundRect">
            <a:avLst>
              <a:gd name="adj" fmla="val 26667"/>
            </a:avLst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AI</a:t>
            </a:r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062273CB-6A78-4FFA-8766-B6902FF16679}"/>
              </a:ext>
            </a:extLst>
          </p:cNvPr>
          <p:cNvSpPr>
            <a:spLocks noGrp="1"/>
          </p:cNvSpPr>
          <p:nvPr/>
        </p:nvSpPr>
        <p:spPr>
          <a:xfrm>
            <a:off x="6286500" y="5343525"/>
            <a:ext cx="2000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פלט מובנה וניתן לבדיקה</a:t>
            </a:r>
          </a:p>
        </p:txBody>
      </p:sp>
      <p:sp>
        <p:nvSpPr>
          <p:cNvPr id="34" name="מלבן: פינות מעוגלות 33">
            <a:extLst>
              <a:ext uri="{FF2B5EF4-FFF2-40B4-BE49-F238E27FC236}">
                <a16:creationId xmlns:a16="http://schemas.microsoft.com/office/drawing/2014/main" id="{6ED48363-00AF-4893-A1DB-2060B74DA4F2}"/>
              </a:ext>
            </a:extLst>
          </p:cNvPr>
          <p:cNvSpPr>
            <a:spLocks noGrp="1"/>
          </p:cNvSpPr>
          <p:nvPr/>
        </p:nvSpPr>
        <p:spPr>
          <a:xfrm>
            <a:off x="4191000" y="5010150"/>
            <a:ext cx="85725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SEARCH</a:t>
            </a:r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770012F7-BE51-47C0-BA1F-CF32DB1BC7B5}"/>
              </a:ext>
            </a:extLst>
          </p:cNvPr>
          <p:cNvSpPr>
            <a:spLocks noGrp="1"/>
          </p:cNvSpPr>
          <p:nvPr/>
        </p:nvSpPr>
        <p:spPr>
          <a:xfrm>
            <a:off x="3619500" y="5343525"/>
            <a:ext cx="2000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כשל </a:t>
            </a:r>
            <a:r>
              <a:rPr lang="en-US" dirty="0"/>
              <a:t>API </a:t>
            </a:r>
            <a:r>
              <a:rPr lang="he-IL" dirty="0"/>
              <a:t>לא מוחק תהליך</a:t>
            </a:r>
          </a:p>
        </p:txBody>
      </p:sp>
      <p:sp>
        <p:nvSpPr>
          <p:cNvPr id="36" name="מלבן: פינות מעוגלות 35">
            <a:extLst>
              <a:ext uri="{FF2B5EF4-FFF2-40B4-BE49-F238E27FC236}">
                <a16:creationId xmlns:a16="http://schemas.microsoft.com/office/drawing/2014/main" id="{3ABD1703-A31D-44EB-9893-CF88A6D8342A}"/>
              </a:ext>
            </a:extLst>
          </p:cNvPr>
          <p:cNvSpPr>
            <a:spLocks noGrp="1"/>
          </p:cNvSpPr>
          <p:nvPr/>
        </p:nvSpPr>
        <p:spPr>
          <a:xfrm>
            <a:off x="1524000" y="5010150"/>
            <a:ext cx="857250" cy="285750"/>
          </a:xfrm>
          <a:prstGeom prst="roundRect">
            <a:avLst>
              <a:gd name="adj" fmla="val 26667"/>
            </a:avLst>
          </a:prstGeom>
          <a:solidFill>
            <a:srgbClr val="F5F8FA"/>
          </a:solidFill>
          <a:ln w="0">
            <a:solidFill>
              <a:srgbClr val="F5F8FA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DOCS</a:t>
            </a:r>
          </a:p>
        </p:txBody>
      </p:sp>
      <p:sp>
        <p:nvSpPr>
          <p:cNvPr id="37" name="מלבן 36">
            <a:extLst>
              <a:ext uri="{FF2B5EF4-FFF2-40B4-BE49-F238E27FC236}">
                <a16:creationId xmlns:a16="http://schemas.microsoft.com/office/drawing/2014/main" id="{016DCBE4-FD15-4E76-8171-0C89834139F3}"/>
              </a:ext>
            </a:extLst>
          </p:cNvPr>
          <p:cNvSpPr>
            <a:spLocks noGrp="1"/>
          </p:cNvSpPr>
          <p:nvPr/>
        </p:nvSpPr>
        <p:spPr>
          <a:xfrm>
            <a:off x="952500" y="5343525"/>
            <a:ext cx="2000250" cy="2667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קבצים נשמרים לזמן מוגבל</a:t>
            </a:r>
          </a:p>
        </p:txBody>
      </p:sp>
      <p:sp>
        <p:nvSpPr>
          <p:cNvPr id="38" name="מלבן 37">
            <a:extLst>
              <a:ext uri="{FF2B5EF4-FFF2-40B4-BE49-F238E27FC236}">
                <a16:creationId xmlns:a16="http://schemas.microsoft.com/office/drawing/2014/main" id="{6D2B2808-3698-4D28-A702-542D19A7ADA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40" name="מלבן 39">
            <a:extLst>
              <a:ext uri="{FF2B5EF4-FFF2-40B4-BE49-F238E27FC236}">
                <a16:creationId xmlns:a16="http://schemas.microsoft.com/office/drawing/2014/main" id="{174BEAD7-003B-4D71-A849-D8257F005BFB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329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kicker-marker">
            <a:extLst>
              <a:ext uri="{FF2B5EF4-FFF2-40B4-BE49-F238E27FC236}">
                <a16:creationId xmlns:a16="http://schemas.microsoft.com/office/drawing/2014/main" id="{538245CA-A8BB-4303-8851-A82BA6E27EC0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DA1C464B-458D-479D-B0C4-5CD5296EE6FD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83A"/>
                </a:solidFill>
                <a:latin typeface="Arial"/>
                <a:ea typeface="Arial"/>
                <a:cs typeface="Arial"/>
              </a:defRPr>
            </a:pPr>
            <a:r>
              <a:t>AI WORKFLOW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25C70647-3CB4-4FE7-8D14-2900EBDF8139}"/>
              </a:ext>
            </a:extLst>
          </p:cNvPr>
          <p:cNvSpPr>
            <a:spLocks noGrp="1"/>
          </p:cNvSpPr>
          <p:nvPr/>
        </p:nvSpPr>
        <p:spPr>
          <a:xfrm>
            <a:off x="1895475" y="590550"/>
            <a:ext cx="9629775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 fontScale="99206"/>
          </a:bodyPr>
          <a:lstStyle/>
          <a:p>
            <a:pPr algn="r" rtl="1">
              <a:defRPr sz="31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פלט מובנה הופך המלצות </a:t>
            </a:r>
            <a:r>
              <a:rPr lang="en-US" dirty="0"/>
              <a:t>AI</a:t>
            </a:r>
            <a:r>
              <a:rPr lang="he-IL" dirty="0"/>
              <a:t> לשימושיות וניתנות לבקרה.</a:t>
            </a:r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4431B64B-F2E1-4AF3-A763-B8324D417087}"/>
              </a:ext>
            </a:extLst>
          </p:cNvPr>
          <p:cNvSpPr>
            <a:spLocks noGrp="1"/>
          </p:cNvSpPr>
          <p:nvPr/>
        </p:nvSpPr>
        <p:spPr>
          <a:xfrm>
            <a:off x="10077450" y="1943100"/>
            <a:ext cx="323850" cy="3238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9FAC0727-3A67-46DB-B82C-E50F225F2539}"/>
              </a:ext>
            </a:extLst>
          </p:cNvPr>
          <p:cNvSpPr>
            <a:spLocks noGrp="1"/>
          </p:cNvSpPr>
          <p:nvPr/>
        </p:nvSpPr>
        <p:spPr>
          <a:xfrm>
            <a:off x="9334500" y="2381250"/>
            <a:ext cx="1809750" cy="1104900"/>
          </a:xfrm>
          <a:prstGeom prst="roundRect">
            <a:avLst>
              <a:gd name="adj" fmla="val 6897"/>
            </a:avLst>
          </a:prstGeom>
          <a:solidFill>
            <a:srgbClr val="153447"/>
          </a:solidFill>
          <a:ln w="9525">
            <a:solidFill>
              <a:srgbClr val="9DB5BF"/>
            </a:solidFill>
          </a:ln>
        </p:spPr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3EAD0CD7-7D62-4157-9572-BF0076D527D9}"/>
              </a:ext>
            </a:extLst>
          </p:cNvPr>
          <p:cNvSpPr>
            <a:spLocks noGrp="1"/>
          </p:cNvSpPr>
          <p:nvPr/>
        </p:nvSpPr>
        <p:spPr>
          <a:xfrm>
            <a:off x="9467850" y="2543175"/>
            <a:ext cx="154305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טקסט CV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90C6DD7A-157B-494E-A745-A577AA3C5304}"/>
              </a:ext>
            </a:extLst>
          </p:cNvPr>
          <p:cNvSpPr>
            <a:spLocks noGrp="1"/>
          </p:cNvSpPr>
          <p:nvPr/>
        </p:nvSpPr>
        <p:spPr>
          <a:xfrm>
            <a:off x="9467850" y="2905125"/>
            <a:ext cx="15430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ניקוי וחילוץ</a:t>
            </a: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8E1844A4-0FF8-4702-9CB7-13F5DAEE2939}"/>
              </a:ext>
            </a:extLst>
          </p:cNvPr>
          <p:cNvSpPr>
            <a:spLocks noGrp="1"/>
          </p:cNvSpPr>
          <p:nvPr/>
        </p:nvSpPr>
        <p:spPr>
          <a:xfrm>
            <a:off x="7886700" y="1943100"/>
            <a:ext cx="323850" cy="3238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9B5C7CC9-6FF8-4FA3-B025-07704BF05B2E}"/>
              </a:ext>
            </a:extLst>
          </p:cNvPr>
          <p:cNvSpPr>
            <a:spLocks noGrp="1"/>
          </p:cNvSpPr>
          <p:nvPr/>
        </p:nvSpPr>
        <p:spPr>
          <a:xfrm>
            <a:off x="7143750" y="2381250"/>
            <a:ext cx="1809750" cy="1104900"/>
          </a:xfrm>
          <a:prstGeom prst="roundRect">
            <a:avLst>
              <a:gd name="adj" fmla="val 6897"/>
            </a:avLst>
          </a:prstGeom>
          <a:solidFill>
            <a:srgbClr val="35D0C7"/>
          </a:solidFill>
          <a:ln w="9525">
            <a:solidFill>
              <a:srgbClr val="9DB5BF"/>
            </a:solidFill>
          </a:ln>
        </p:spPr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7D114625-DAEE-4D68-8F80-6067FABF5260}"/>
              </a:ext>
            </a:extLst>
          </p:cNvPr>
          <p:cNvSpPr>
            <a:spLocks noGrp="1"/>
          </p:cNvSpPr>
          <p:nvPr/>
        </p:nvSpPr>
        <p:spPr>
          <a:xfrm>
            <a:off x="7277100" y="2543175"/>
            <a:ext cx="154305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Schema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C1C6E0CC-1765-4D37-89AC-4B211360784B}"/>
              </a:ext>
            </a:extLst>
          </p:cNvPr>
          <p:cNvSpPr>
            <a:spLocks noGrp="1"/>
          </p:cNvSpPr>
          <p:nvPr/>
        </p:nvSpPr>
        <p:spPr>
          <a:xfrm>
            <a:off x="7277100" y="2905125"/>
            <a:ext cx="15430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38535E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skills • roles • evidence</a:t>
            </a:r>
          </a:p>
        </p:txBody>
      </p:sp>
      <p:sp>
        <p:nvSpPr>
          <p:cNvPr id="12" name="אליפסה 11">
            <a:extLst>
              <a:ext uri="{FF2B5EF4-FFF2-40B4-BE49-F238E27FC236}">
                <a16:creationId xmlns:a16="http://schemas.microsoft.com/office/drawing/2014/main" id="{F7B5196A-4059-419D-AA18-F0E4AABD7699}"/>
              </a:ext>
            </a:extLst>
          </p:cNvPr>
          <p:cNvSpPr>
            <a:spLocks noGrp="1"/>
          </p:cNvSpPr>
          <p:nvPr/>
        </p:nvSpPr>
        <p:spPr>
          <a:xfrm>
            <a:off x="5695950" y="1943100"/>
            <a:ext cx="323850" cy="3238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73800FEE-CEFE-494D-AB62-24A1D00E45B3}"/>
              </a:ext>
            </a:extLst>
          </p:cNvPr>
          <p:cNvSpPr>
            <a:spLocks noGrp="1"/>
          </p:cNvSpPr>
          <p:nvPr/>
        </p:nvSpPr>
        <p:spPr>
          <a:xfrm>
            <a:off x="4953000" y="2381250"/>
            <a:ext cx="1809750" cy="1104900"/>
          </a:xfrm>
          <a:prstGeom prst="roundRect">
            <a:avLst>
              <a:gd name="adj" fmla="val 6897"/>
            </a:avLst>
          </a:prstGeom>
          <a:solidFill>
            <a:srgbClr val="B8E36B"/>
          </a:solidFill>
          <a:ln w="9525">
            <a:solidFill>
              <a:srgbClr val="9DB5BF"/>
            </a:solidFill>
          </a:ln>
        </p:spPr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BB3512A7-BD5C-4A93-8D8C-F6D15FEC9E1A}"/>
              </a:ext>
            </a:extLst>
          </p:cNvPr>
          <p:cNvSpPr>
            <a:spLocks noGrp="1"/>
          </p:cNvSpPr>
          <p:nvPr/>
        </p:nvSpPr>
        <p:spPr>
          <a:xfrm>
            <a:off x="5086350" y="2543175"/>
            <a:ext cx="154305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Prompt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CD90CC1A-8319-49F5-AE79-5BAFB4DB83AC}"/>
              </a:ext>
            </a:extLst>
          </p:cNvPr>
          <p:cNvSpPr>
            <a:spLocks noGrp="1"/>
          </p:cNvSpPr>
          <p:nvPr/>
        </p:nvSpPr>
        <p:spPr>
          <a:xfrm>
            <a:off x="5086350" y="2905125"/>
            <a:ext cx="15430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0">
              <a:defRPr sz="900" b="0">
                <a:solidFill>
                  <a:srgbClr val="38535E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משרה + כישורים</a:t>
            </a:r>
          </a:p>
        </p:txBody>
      </p:sp>
      <p:sp>
        <p:nvSpPr>
          <p:cNvPr id="16" name="אליפסה 15">
            <a:extLst>
              <a:ext uri="{FF2B5EF4-FFF2-40B4-BE49-F238E27FC236}">
                <a16:creationId xmlns:a16="http://schemas.microsoft.com/office/drawing/2014/main" id="{553A8BDF-41CE-45E3-B3DD-295B2AA173B9}"/>
              </a:ext>
            </a:extLst>
          </p:cNvPr>
          <p:cNvSpPr>
            <a:spLocks noGrp="1"/>
          </p:cNvSpPr>
          <p:nvPr/>
        </p:nvSpPr>
        <p:spPr>
          <a:xfrm>
            <a:off x="3505200" y="1943100"/>
            <a:ext cx="323850" cy="32385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77C0F655-CC31-4EBC-A214-6F27908C62BA}"/>
              </a:ext>
            </a:extLst>
          </p:cNvPr>
          <p:cNvSpPr>
            <a:spLocks noGrp="1"/>
          </p:cNvSpPr>
          <p:nvPr/>
        </p:nvSpPr>
        <p:spPr>
          <a:xfrm>
            <a:off x="2762250" y="2381250"/>
            <a:ext cx="1809750" cy="1104900"/>
          </a:xfrm>
          <a:prstGeom prst="roundRect">
            <a:avLst>
              <a:gd name="adj" fmla="val 6897"/>
            </a:avLst>
          </a:prstGeom>
          <a:solidFill>
            <a:srgbClr val="FFB45C"/>
          </a:solidFill>
          <a:ln w="9525">
            <a:solidFill>
              <a:srgbClr val="9DB5BF"/>
            </a:solidFill>
          </a:ln>
        </p:spPr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051AD85D-52E5-4714-A065-55CACA67CE63}"/>
              </a:ext>
            </a:extLst>
          </p:cNvPr>
          <p:cNvSpPr>
            <a:spLocks noGrp="1"/>
          </p:cNvSpPr>
          <p:nvPr/>
        </p:nvSpPr>
        <p:spPr>
          <a:xfrm>
            <a:off x="2895600" y="2543175"/>
            <a:ext cx="154305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Validation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5F82074D-B3D5-4809-932D-36AE8806342A}"/>
              </a:ext>
            </a:extLst>
          </p:cNvPr>
          <p:cNvSpPr>
            <a:spLocks noGrp="1"/>
          </p:cNvSpPr>
          <p:nvPr/>
        </p:nvSpPr>
        <p:spPr>
          <a:xfrm>
            <a:off x="2895600" y="2905125"/>
            <a:ext cx="15430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38535E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JSON • fields • fallback</a:t>
            </a:r>
          </a:p>
        </p:txBody>
      </p:sp>
      <p:sp>
        <p:nvSpPr>
          <p:cNvPr id="20" name="אליפסה 19">
            <a:extLst>
              <a:ext uri="{FF2B5EF4-FFF2-40B4-BE49-F238E27FC236}">
                <a16:creationId xmlns:a16="http://schemas.microsoft.com/office/drawing/2014/main" id="{057C146D-A922-462D-90F2-070950DB9A4E}"/>
              </a:ext>
            </a:extLst>
          </p:cNvPr>
          <p:cNvSpPr>
            <a:spLocks noGrp="1"/>
          </p:cNvSpPr>
          <p:nvPr/>
        </p:nvSpPr>
        <p:spPr>
          <a:xfrm>
            <a:off x="1314450" y="1943100"/>
            <a:ext cx="323850" cy="3238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1" name="מלבן: פינות מעוגלות 20">
            <a:extLst>
              <a:ext uri="{FF2B5EF4-FFF2-40B4-BE49-F238E27FC236}">
                <a16:creationId xmlns:a16="http://schemas.microsoft.com/office/drawing/2014/main" id="{63CBEB02-2822-44F9-AA49-12B04649A869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1809750" cy="1104900"/>
          </a:xfrm>
          <a:prstGeom prst="roundRect">
            <a:avLst>
              <a:gd name="adj" fmla="val 6897"/>
            </a:avLst>
          </a:prstGeom>
          <a:solidFill>
            <a:srgbClr val="153447"/>
          </a:solidFill>
          <a:ln w="9525">
            <a:solidFill>
              <a:srgbClr val="9DB5BF"/>
            </a:solidFill>
          </a:ln>
        </p:spPr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86EC24AB-8916-4F81-B1C1-EA35CB90B9AA}"/>
              </a:ext>
            </a:extLst>
          </p:cNvPr>
          <p:cNvSpPr>
            <a:spLocks noGrp="1"/>
          </p:cNvSpPr>
          <p:nvPr/>
        </p:nvSpPr>
        <p:spPr>
          <a:xfrm>
            <a:off x="704850" y="2543175"/>
            <a:ext cx="154305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תוצר</a:t>
            </a: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8AB1BEB9-1A81-4163-867A-11F6226C1B6F}"/>
              </a:ext>
            </a:extLst>
          </p:cNvPr>
          <p:cNvSpPr>
            <a:spLocks noGrp="1"/>
          </p:cNvSpPr>
          <p:nvPr/>
        </p:nvSpPr>
        <p:spPr>
          <a:xfrm>
            <a:off x="704850" y="2905125"/>
            <a:ext cx="15430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פערים + נוסח משופר</a:t>
            </a:r>
          </a:p>
        </p:txBody>
      </p:sp>
      <p:cxnSp>
        <p:nvCxnSpPr>
          <p:cNvPr id="24" name="מחבר חץ ישר 23"/>
          <p:cNvCxnSpPr>
            <a:cxnSpLocks/>
          </p:cNvCxnSpPr>
          <p:nvPr/>
        </p:nvCxnSpPr>
        <p:spPr>
          <a:xfrm>
            <a:off x="9001125" y="2933700"/>
            <a:ext cx="333375" cy="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15CE883B-F74E-4005-B5D3-4D57D3C7BB7A}"/>
              </a:ext>
            </a:extLst>
          </p:cNvPr>
          <p:cNvSpPr>
            <a:spLocks noGrp="1"/>
          </p:cNvSpPr>
          <p:nvPr/>
        </p:nvSpPr>
        <p:spPr>
          <a:xfrm>
            <a:off x="571500" y="3905250"/>
            <a:ext cx="6667500" cy="1866900"/>
          </a:xfrm>
          <a:prstGeom prst="roundRect">
            <a:avLst>
              <a:gd name="adj" fmla="val 4082"/>
            </a:avLst>
          </a:prstGeom>
          <a:solidFill>
            <a:srgbClr val="071421"/>
          </a:solidFill>
          <a:ln w="0">
            <a:solidFill>
              <a:srgbClr val="071421"/>
            </a:solidFill>
          </a:ln>
        </p:spPr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20ABEB12-78E4-4DA1-AFFB-0AC845DCF352}"/>
              </a:ext>
            </a:extLst>
          </p:cNvPr>
          <p:cNvSpPr>
            <a:spLocks noGrp="1"/>
          </p:cNvSpPr>
          <p:nvPr/>
        </p:nvSpPr>
        <p:spPr>
          <a:xfrm>
            <a:off x="819150" y="4114800"/>
            <a:ext cx="2286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96180"/>
          </a:bodyPr>
          <a:lstStyle/>
          <a:p>
            <a:pPr algn="l" rtl="1">
              <a:defRPr sz="1650" b="1">
                <a:solidFill>
                  <a:srgbClr val="35D0C7"/>
                </a:solidFill>
                <a:latin typeface="Consolas"/>
                <a:ea typeface="Consolas"/>
                <a:cs typeface="Consolas"/>
              </a:defRPr>
            </a:pPr>
            <a:r>
              <a:t>{</a:t>
            </a:r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3BA0A2E0-9F31-4252-B337-D73DDA60D693}"/>
              </a:ext>
            </a:extLst>
          </p:cNvPr>
          <p:cNvSpPr>
            <a:spLocks noGrp="1"/>
          </p:cNvSpPr>
          <p:nvPr/>
        </p:nvSpPr>
        <p:spPr>
          <a:xfrm>
            <a:off x="1066800" y="4143375"/>
            <a:ext cx="5905500" cy="12382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l" rtl="1">
              <a:defRPr sz="1200" b="0">
                <a:solidFill>
                  <a:srgbClr val="DCE8EC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"</a:t>
            </a:r>
            <a:r>
              <a:rPr dirty="0" err="1"/>
              <a:t>matchReason</a:t>
            </a:r>
            <a:r>
              <a:rPr dirty="0"/>
              <a:t>": "Node.js + REST API",</a:t>
            </a:r>
          </a:p>
          <a:p>
            <a:pPr algn="l" rtl="1">
              <a:defRPr sz="1200" b="0">
                <a:solidFill>
                  <a:srgbClr val="DCE8EC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"</a:t>
            </a:r>
            <a:r>
              <a:rPr dirty="0" err="1"/>
              <a:t>skillGaps</a:t>
            </a:r>
            <a:r>
              <a:rPr dirty="0"/>
              <a:t>": ["Docker", "Testing"],</a:t>
            </a:r>
          </a:p>
          <a:p>
            <a:pPr algn="l" rtl="1">
              <a:defRPr sz="1200" b="0">
                <a:solidFill>
                  <a:srgbClr val="DCE8EC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"improvement": "Add deployment evidence"</a:t>
            </a:r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77394C8C-6FA9-4BDA-AFE7-B8608B44D2A3}"/>
              </a:ext>
            </a:extLst>
          </p:cNvPr>
          <p:cNvSpPr>
            <a:spLocks noGrp="1"/>
          </p:cNvSpPr>
          <p:nvPr/>
        </p:nvSpPr>
        <p:spPr>
          <a:xfrm>
            <a:off x="819150" y="5334000"/>
            <a:ext cx="2286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 fontScale="88680" lnSpcReduction="10000"/>
          </a:bodyPr>
          <a:lstStyle/>
          <a:p>
            <a:pPr algn="l" rtl="1">
              <a:defRPr sz="1650" b="1">
                <a:solidFill>
                  <a:srgbClr val="35D0C7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F20B9002-136B-4179-BCE9-7BF12BF1B1AE}"/>
              </a:ext>
            </a:extLst>
          </p:cNvPr>
          <p:cNvSpPr>
            <a:spLocks noGrp="1"/>
          </p:cNvSpPr>
          <p:nvPr/>
        </p:nvSpPr>
        <p:spPr>
          <a:xfrm>
            <a:off x="7810500" y="4000500"/>
            <a:ext cx="34290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3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Guardrails</a:t>
            </a:r>
          </a:p>
        </p:txBody>
      </p:sp>
      <p:sp>
        <p:nvSpPr>
          <p:cNvPr id="33" name="אליפסה 32">
            <a:extLst>
              <a:ext uri="{FF2B5EF4-FFF2-40B4-BE49-F238E27FC236}">
                <a16:creationId xmlns:a16="http://schemas.microsoft.com/office/drawing/2014/main" id="{F2AA5079-8212-494D-BD4A-7893A07FE0EE}"/>
              </a:ext>
            </a:extLst>
          </p:cNvPr>
          <p:cNvSpPr>
            <a:spLocks noGrp="1"/>
          </p:cNvSpPr>
          <p:nvPr/>
        </p:nvSpPr>
        <p:spPr>
          <a:xfrm>
            <a:off x="10839450" y="4438650"/>
            <a:ext cx="228600" cy="2286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 lnSpcReduction="10000"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34" name="מלבן 33">
            <a:extLst>
              <a:ext uri="{FF2B5EF4-FFF2-40B4-BE49-F238E27FC236}">
                <a16:creationId xmlns:a16="http://schemas.microsoft.com/office/drawing/2014/main" id="{CF55DE65-999F-4925-A5D6-4C3C126E78BD}"/>
              </a:ext>
            </a:extLst>
          </p:cNvPr>
          <p:cNvSpPr>
            <a:spLocks noGrp="1"/>
          </p:cNvSpPr>
          <p:nvPr/>
        </p:nvSpPr>
        <p:spPr>
          <a:xfrm>
            <a:off x="9667875" y="4410075"/>
            <a:ext cx="1000125" cy="2476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מקור</a:t>
            </a:r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A6C4BB8B-B86C-435F-AC42-29FE30C80E4A}"/>
              </a:ext>
            </a:extLst>
          </p:cNvPr>
          <p:cNvSpPr>
            <a:spLocks noGrp="1"/>
          </p:cNvSpPr>
          <p:nvPr/>
        </p:nvSpPr>
        <p:spPr>
          <a:xfrm>
            <a:off x="7524750" y="4410075"/>
            <a:ext cx="2095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00" b="0">
                <a:solidFill>
                  <a:srgbClr val="5D7580"/>
                </a:solidFill>
                <a:latin typeface="Arial"/>
                <a:ea typeface="Arial"/>
                <a:cs typeface="Arial"/>
              </a:defRPr>
            </a:pPr>
            <a:r>
              <a:t>כל המלצה קשורה לעדות מה־CV</a:t>
            </a:r>
          </a:p>
        </p:txBody>
      </p:sp>
      <p:sp>
        <p:nvSpPr>
          <p:cNvPr id="36" name="אליפסה 35">
            <a:extLst>
              <a:ext uri="{FF2B5EF4-FFF2-40B4-BE49-F238E27FC236}">
                <a16:creationId xmlns:a16="http://schemas.microsoft.com/office/drawing/2014/main" id="{1DAC806D-F8CE-448D-B3F8-E2E4BCD6B4A0}"/>
              </a:ext>
            </a:extLst>
          </p:cNvPr>
          <p:cNvSpPr>
            <a:spLocks noGrp="1"/>
          </p:cNvSpPr>
          <p:nvPr/>
        </p:nvSpPr>
        <p:spPr>
          <a:xfrm>
            <a:off x="10839450" y="4886325"/>
            <a:ext cx="228600" cy="22860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 lnSpcReduction="10000"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37" name="מלבן 36">
            <a:extLst>
              <a:ext uri="{FF2B5EF4-FFF2-40B4-BE49-F238E27FC236}">
                <a16:creationId xmlns:a16="http://schemas.microsoft.com/office/drawing/2014/main" id="{798B94D8-F37C-45E5-92DE-321E7B667A23}"/>
              </a:ext>
            </a:extLst>
          </p:cNvPr>
          <p:cNvSpPr>
            <a:spLocks noGrp="1"/>
          </p:cNvSpPr>
          <p:nvPr/>
        </p:nvSpPr>
        <p:spPr>
          <a:xfrm>
            <a:off x="9667875" y="4857750"/>
            <a:ext cx="1000125" cy="2476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בקרה</a:t>
            </a:r>
          </a:p>
        </p:txBody>
      </p:sp>
      <p:sp>
        <p:nvSpPr>
          <p:cNvPr id="38" name="מלבן 37">
            <a:extLst>
              <a:ext uri="{FF2B5EF4-FFF2-40B4-BE49-F238E27FC236}">
                <a16:creationId xmlns:a16="http://schemas.microsoft.com/office/drawing/2014/main" id="{F1D143A6-083C-415B-AAE3-25C5C2FC3C3E}"/>
              </a:ext>
            </a:extLst>
          </p:cNvPr>
          <p:cNvSpPr>
            <a:spLocks noGrp="1"/>
          </p:cNvSpPr>
          <p:nvPr/>
        </p:nvSpPr>
        <p:spPr>
          <a:xfrm>
            <a:off x="7524750" y="4857750"/>
            <a:ext cx="2095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00" b="0">
                <a:solidFill>
                  <a:srgbClr val="5D7580"/>
                </a:solidFill>
                <a:latin typeface="Arial"/>
                <a:ea typeface="Arial"/>
                <a:cs typeface="Arial"/>
              </a:defRPr>
            </a:pPr>
            <a:r>
              <a:t>פלט לא תקין חוזר למסלול fallback</a:t>
            </a:r>
          </a:p>
        </p:txBody>
      </p:sp>
      <p:sp>
        <p:nvSpPr>
          <p:cNvPr id="39" name="אליפסה 38">
            <a:extLst>
              <a:ext uri="{FF2B5EF4-FFF2-40B4-BE49-F238E27FC236}">
                <a16:creationId xmlns:a16="http://schemas.microsoft.com/office/drawing/2014/main" id="{EBDE347E-A8AE-4CE7-824E-236E53932395}"/>
              </a:ext>
            </a:extLst>
          </p:cNvPr>
          <p:cNvSpPr>
            <a:spLocks noGrp="1"/>
          </p:cNvSpPr>
          <p:nvPr/>
        </p:nvSpPr>
        <p:spPr>
          <a:xfrm>
            <a:off x="10839450" y="5334000"/>
            <a:ext cx="228600" cy="2286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 lnSpcReduction="10000"/>
          </a:bodyPr>
          <a:lstStyle/>
          <a:p>
            <a:pPr algn="ctr" rtl="1">
              <a:defRPr sz="900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40" name="מלבן 39">
            <a:extLst>
              <a:ext uri="{FF2B5EF4-FFF2-40B4-BE49-F238E27FC236}">
                <a16:creationId xmlns:a16="http://schemas.microsoft.com/office/drawing/2014/main" id="{9EBCE2AF-3E7A-405A-ABB4-CC4D913FFF28}"/>
              </a:ext>
            </a:extLst>
          </p:cNvPr>
          <p:cNvSpPr>
            <a:spLocks noGrp="1"/>
          </p:cNvSpPr>
          <p:nvPr/>
        </p:nvSpPr>
        <p:spPr>
          <a:xfrm>
            <a:off x="9667875" y="5305425"/>
            <a:ext cx="1000125" cy="2476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שקיפות</a:t>
            </a:r>
          </a:p>
        </p:txBody>
      </p:sp>
      <p:sp>
        <p:nvSpPr>
          <p:cNvPr id="41" name="מלבן 40">
            <a:extLst>
              <a:ext uri="{FF2B5EF4-FFF2-40B4-BE49-F238E27FC236}">
                <a16:creationId xmlns:a16="http://schemas.microsoft.com/office/drawing/2014/main" id="{8806A3F6-066F-46E2-8942-281353E5A0AA}"/>
              </a:ext>
            </a:extLst>
          </p:cNvPr>
          <p:cNvSpPr>
            <a:spLocks noGrp="1"/>
          </p:cNvSpPr>
          <p:nvPr/>
        </p:nvSpPr>
        <p:spPr>
          <a:xfrm>
            <a:off x="7524750" y="5305425"/>
            <a:ext cx="2095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00" b="0">
                <a:solidFill>
                  <a:srgbClr val="5D7580"/>
                </a:solidFill>
                <a:latin typeface="Arial"/>
                <a:ea typeface="Arial"/>
                <a:cs typeface="Arial"/>
              </a:defRPr>
            </a:pPr>
            <a:r>
              <a:t>המשתמש רואה פערים לפני יצירת הקובץ</a:t>
            </a:r>
          </a:p>
        </p:txBody>
      </p:sp>
      <p:sp>
        <p:nvSpPr>
          <p:cNvPr id="42" name="מלבן 41">
            <a:extLst>
              <a:ext uri="{FF2B5EF4-FFF2-40B4-BE49-F238E27FC236}">
                <a16:creationId xmlns:a16="http://schemas.microsoft.com/office/drawing/2014/main" id="{3F953A69-35DF-43A1-8833-FA2B9527FAC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4E0E5"/>
          </a:solidFill>
          <a:ln w="0">
            <a:solidFill>
              <a:srgbClr val="D4E0E5"/>
            </a:solidFill>
          </a:ln>
        </p:spPr>
      </p:sp>
      <p:sp>
        <p:nvSpPr>
          <p:cNvPr id="44" name="מלבן 43">
            <a:extLst>
              <a:ext uri="{FF2B5EF4-FFF2-40B4-BE49-F238E27FC236}">
                <a16:creationId xmlns:a16="http://schemas.microsoft.com/office/drawing/2014/main" id="{90DBC2FE-70DE-41B1-8EDA-2D0B7942D4F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617986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07</a:t>
            </a:r>
            <a:endParaRPr dirty="0"/>
          </a:p>
        </p:txBody>
      </p:sp>
      <p:cxnSp>
        <p:nvCxnSpPr>
          <p:cNvPr id="47" name="מחבר חץ ישר 46">
            <a:extLst>
              <a:ext uri="{FF2B5EF4-FFF2-40B4-BE49-F238E27FC236}">
                <a16:creationId xmlns:a16="http://schemas.microsoft.com/office/drawing/2014/main" id="{AA7B34F6-F032-492B-8181-BD4CB225D014}"/>
              </a:ext>
            </a:extLst>
          </p:cNvPr>
          <p:cNvCxnSpPr>
            <a:cxnSpLocks/>
          </p:cNvCxnSpPr>
          <p:nvPr/>
        </p:nvCxnSpPr>
        <p:spPr>
          <a:xfrm>
            <a:off x="6762750" y="2933700"/>
            <a:ext cx="333375" cy="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48" name="מחבר חץ ישר 47">
            <a:extLst>
              <a:ext uri="{FF2B5EF4-FFF2-40B4-BE49-F238E27FC236}">
                <a16:creationId xmlns:a16="http://schemas.microsoft.com/office/drawing/2014/main" id="{A4B4CC9C-F1B4-4B0A-BB81-02597FA9B285}"/>
              </a:ext>
            </a:extLst>
          </p:cNvPr>
          <p:cNvCxnSpPr>
            <a:cxnSpLocks/>
          </p:cNvCxnSpPr>
          <p:nvPr/>
        </p:nvCxnSpPr>
        <p:spPr>
          <a:xfrm>
            <a:off x="4572000" y="2933700"/>
            <a:ext cx="333375" cy="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  <p:cxnSp>
        <p:nvCxnSpPr>
          <p:cNvPr id="49" name="מחבר חץ ישר 48">
            <a:extLst>
              <a:ext uri="{FF2B5EF4-FFF2-40B4-BE49-F238E27FC236}">
                <a16:creationId xmlns:a16="http://schemas.microsoft.com/office/drawing/2014/main" id="{D14BDCA2-AF7B-451A-99BF-15A362CF6E33}"/>
              </a:ext>
            </a:extLst>
          </p:cNvPr>
          <p:cNvCxnSpPr>
            <a:cxnSpLocks/>
          </p:cNvCxnSpPr>
          <p:nvPr/>
        </p:nvCxnSpPr>
        <p:spPr>
          <a:xfrm>
            <a:off x="2381250" y="2933700"/>
            <a:ext cx="333375" cy="0"/>
          </a:xfrm>
          <a:prstGeom prst="straightConnector1">
            <a:avLst/>
          </a:prstGeom>
          <a:ln w="19050">
            <a:solidFill>
              <a:srgbClr val="35D0C7"/>
            </a:solidFill>
            <a:prstDash val="solid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683596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kicker-marker">
            <a:extLst>
              <a:ext uri="{FF2B5EF4-FFF2-40B4-BE49-F238E27FC236}">
                <a16:creationId xmlns:a16="http://schemas.microsoft.com/office/drawing/2014/main" id="{9BA2073C-755B-4FFC-88A2-BBA3EE302533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7F932D29-DB66-4D71-968A-D9FDA64D14B1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DELIVERY PLAN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900458D9-3EAA-4237-B365-CF2E4F035E25}"/>
              </a:ext>
            </a:extLst>
          </p:cNvPr>
          <p:cNvSpPr>
            <a:spLocks noGrp="1"/>
          </p:cNvSpPr>
          <p:nvPr/>
        </p:nvSpPr>
        <p:spPr>
          <a:xfrm>
            <a:off x="1714500" y="609600"/>
            <a:ext cx="9810750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 fontScale="99206"/>
          </a:bodyPr>
          <a:lstStyle/>
          <a:p>
            <a: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Milestones </a:t>
            </a:r>
            <a:r>
              <a:rPr lang="he-IL" dirty="0"/>
              <a:t> </a:t>
            </a:r>
            <a:r>
              <a:rPr dirty="0" err="1"/>
              <a:t>הופכים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המוצר</a:t>
            </a:r>
            <a:r>
              <a:rPr dirty="0"/>
              <a:t> </a:t>
            </a:r>
            <a:r>
              <a:rPr dirty="0" err="1"/>
              <a:t>לגרסאות</a:t>
            </a:r>
            <a:r>
              <a:rPr dirty="0"/>
              <a:t> </a:t>
            </a:r>
            <a:r>
              <a:rPr dirty="0" err="1"/>
              <a:t>שאפשר</a:t>
            </a:r>
            <a:r>
              <a:rPr dirty="0"/>
              <a:t> </a:t>
            </a:r>
            <a:r>
              <a:rPr dirty="0" err="1"/>
              <a:t>לבדוק</a:t>
            </a:r>
            <a:r>
              <a:rPr dirty="0"/>
              <a:t>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89FEB77D-85F5-4372-8BEB-5A43DE7FE8D8}"/>
              </a:ext>
            </a:extLst>
          </p:cNvPr>
          <p:cNvSpPr>
            <a:spLocks noGrp="1"/>
          </p:cNvSpPr>
          <p:nvPr/>
        </p:nvSpPr>
        <p:spPr>
          <a:xfrm>
            <a:off x="1143000" y="3409950"/>
            <a:ext cx="9810750" cy="38100"/>
          </a:xfrm>
          <a:prstGeom prst="rect">
            <a:avLst/>
          </a:prstGeom>
          <a:solidFill>
            <a:srgbClr val="426072"/>
          </a:solidFill>
          <a:ln w="0">
            <a:solidFill>
              <a:srgbClr val="426072"/>
            </a:solidFill>
          </a:ln>
        </p:spPr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6A61BF50-415A-45FE-A6B3-90C186280215}"/>
              </a:ext>
            </a:extLst>
          </p:cNvPr>
          <p:cNvSpPr>
            <a:spLocks noGrp="1"/>
          </p:cNvSpPr>
          <p:nvPr/>
        </p:nvSpPr>
        <p:spPr>
          <a:xfrm>
            <a:off x="10287000" y="3190875"/>
            <a:ext cx="476250" cy="4762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D20A4A14-4481-4461-99C8-7978EB4DA126}"/>
              </a:ext>
            </a:extLst>
          </p:cNvPr>
          <p:cNvSpPr>
            <a:spLocks noGrp="1"/>
          </p:cNvSpPr>
          <p:nvPr/>
        </p:nvSpPr>
        <p:spPr>
          <a:xfrm>
            <a:off x="9429750" y="2047875"/>
            <a:ext cx="1333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Foundation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64D0A9EB-4D32-4722-8D51-61AE0FF87824}"/>
              </a:ext>
            </a:extLst>
          </p:cNvPr>
          <p:cNvSpPr>
            <a:spLocks noGrp="1"/>
          </p:cNvSpPr>
          <p:nvPr/>
        </p:nvSpPr>
        <p:spPr>
          <a:xfrm>
            <a:off x="9334500" y="2371725"/>
            <a:ext cx="15240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Upload + Parsing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EB476838-E1C7-4013-AD27-91E6E4BCF9A2}"/>
              </a:ext>
            </a:extLst>
          </p:cNvPr>
          <p:cNvSpPr>
            <a:spLocks noGrp="1"/>
          </p:cNvSpPr>
          <p:nvPr/>
        </p:nvSpPr>
        <p:spPr>
          <a:xfrm>
            <a:off x="10515600" y="2771775"/>
            <a:ext cx="19050" cy="409575"/>
          </a:xfrm>
          <a:prstGeom prst="rect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928EE3F0-9408-4F31-9A1D-FDEB1F8BEDE5}"/>
              </a:ext>
            </a:extLst>
          </p:cNvPr>
          <p:cNvSpPr>
            <a:spLocks noGrp="1"/>
          </p:cNvSpPr>
          <p:nvPr/>
        </p:nvSpPr>
        <p:spPr>
          <a:xfrm>
            <a:off x="7905750" y="3190875"/>
            <a:ext cx="476250" cy="47625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228E32CE-AAA9-4506-A5BB-B39AB14CE746}"/>
              </a:ext>
            </a:extLst>
          </p:cNvPr>
          <p:cNvSpPr>
            <a:spLocks noGrp="1"/>
          </p:cNvSpPr>
          <p:nvPr/>
        </p:nvSpPr>
        <p:spPr>
          <a:xfrm>
            <a:off x="7048500" y="4000500"/>
            <a:ext cx="1333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Intelligence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CEDAFA85-A701-4A23-9286-A227C8A62F2A}"/>
              </a:ext>
            </a:extLst>
          </p:cNvPr>
          <p:cNvSpPr>
            <a:spLocks noGrp="1"/>
          </p:cNvSpPr>
          <p:nvPr/>
        </p:nvSpPr>
        <p:spPr>
          <a:xfrm>
            <a:off x="6953250" y="4324350"/>
            <a:ext cx="15240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Gemini + Schema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6E25C279-6634-476B-8576-FFD9F9571A5C}"/>
              </a:ext>
            </a:extLst>
          </p:cNvPr>
          <p:cNvSpPr>
            <a:spLocks noGrp="1"/>
          </p:cNvSpPr>
          <p:nvPr/>
        </p:nvSpPr>
        <p:spPr>
          <a:xfrm>
            <a:off x="8134350" y="3667125"/>
            <a:ext cx="19050" cy="333375"/>
          </a:xfrm>
          <a:prstGeom prst="rect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13" name="אליפסה 12">
            <a:extLst>
              <a:ext uri="{FF2B5EF4-FFF2-40B4-BE49-F238E27FC236}">
                <a16:creationId xmlns:a16="http://schemas.microsoft.com/office/drawing/2014/main" id="{09CE08D9-BB72-4D30-AAE1-2CFC38A98969}"/>
              </a:ext>
            </a:extLst>
          </p:cNvPr>
          <p:cNvSpPr>
            <a:spLocks noGrp="1"/>
          </p:cNvSpPr>
          <p:nvPr/>
        </p:nvSpPr>
        <p:spPr>
          <a:xfrm>
            <a:off x="5524500" y="3190875"/>
            <a:ext cx="476250" cy="47625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CF18DDAE-5A45-4005-8082-35E932E8A768}"/>
              </a:ext>
            </a:extLst>
          </p:cNvPr>
          <p:cNvSpPr>
            <a:spLocks noGrp="1"/>
          </p:cNvSpPr>
          <p:nvPr/>
        </p:nvSpPr>
        <p:spPr>
          <a:xfrm>
            <a:off x="4667250" y="2047875"/>
            <a:ext cx="1333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Matching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EF5594C7-E1A3-436F-A7FB-B20DD6EA71A3}"/>
              </a:ext>
            </a:extLst>
          </p:cNvPr>
          <p:cNvSpPr>
            <a:spLocks noGrp="1"/>
          </p:cNvSpPr>
          <p:nvPr/>
        </p:nvSpPr>
        <p:spPr>
          <a:xfrm>
            <a:off x="4572000" y="2371725"/>
            <a:ext cx="15240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SerpApi + Ranking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28F7CA12-75B5-4874-81F4-135E521D3658}"/>
              </a:ext>
            </a:extLst>
          </p:cNvPr>
          <p:cNvSpPr>
            <a:spLocks noGrp="1"/>
          </p:cNvSpPr>
          <p:nvPr/>
        </p:nvSpPr>
        <p:spPr>
          <a:xfrm>
            <a:off x="5753100" y="2771775"/>
            <a:ext cx="19050" cy="409575"/>
          </a:xfrm>
          <a:prstGeom prst="rect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</p:sp>
      <p:sp>
        <p:nvSpPr>
          <p:cNvPr id="17" name="אליפסה 16">
            <a:extLst>
              <a:ext uri="{FF2B5EF4-FFF2-40B4-BE49-F238E27FC236}">
                <a16:creationId xmlns:a16="http://schemas.microsoft.com/office/drawing/2014/main" id="{EA3E516C-7045-459E-B367-721520830C52}"/>
              </a:ext>
            </a:extLst>
          </p:cNvPr>
          <p:cNvSpPr>
            <a:spLocks noGrp="1"/>
          </p:cNvSpPr>
          <p:nvPr/>
        </p:nvSpPr>
        <p:spPr>
          <a:xfrm>
            <a:off x="3143250" y="3190875"/>
            <a:ext cx="476250" cy="4762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A119063A-813A-45F5-A1CF-FA64B13CDBF6}"/>
              </a:ext>
            </a:extLst>
          </p:cNvPr>
          <p:cNvSpPr>
            <a:spLocks noGrp="1"/>
          </p:cNvSpPr>
          <p:nvPr/>
        </p:nvSpPr>
        <p:spPr>
          <a:xfrm>
            <a:off x="2286000" y="4000500"/>
            <a:ext cx="1333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Optimization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22BCA06F-30F2-4ED3-8BD1-E7664161B35C}"/>
              </a:ext>
            </a:extLst>
          </p:cNvPr>
          <p:cNvSpPr>
            <a:spLocks noGrp="1"/>
          </p:cNvSpPr>
          <p:nvPr/>
        </p:nvSpPr>
        <p:spPr>
          <a:xfrm>
            <a:off x="2190750" y="4324350"/>
            <a:ext cx="15240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Gap + PDF</a:t>
            </a: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FDAAE20B-2537-44D2-AEDE-5AA3F81DCE3A}"/>
              </a:ext>
            </a:extLst>
          </p:cNvPr>
          <p:cNvSpPr>
            <a:spLocks noGrp="1"/>
          </p:cNvSpPr>
          <p:nvPr/>
        </p:nvSpPr>
        <p:spPr>
          <a:xfrm>
            <a:off x="3371850" y="3667125"/>
            <a:ext cx="19050" cy="333375"/>
          </a:xfrm>
          <a:prstGeom prst="rect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1" name="אליפסה 20">
            <a:extLst>
              <a:ext uri="{FF2B5EF4-FFF2-40B4-BE49-F238E27FC236}">
                <a16:creationId xmlns:a16="http://schemas.microsoft.com/office/drawing/2014/main" id="{538DF755-480C-41E2-A756-D1CE4419BE7A}"/>
              </a:ext>
            </a:extLst>
          </p:cNvPr>
          <p:cNvSpPr>
            <a:spLocks noGrp="1"/>
          </p:cNvSpPr>
          <p:nvPr/>
        </p:nvSpPr>
        <p:spPr>
          <a:xfrm>
            <a:off x="1047750" y="3190875"/>
            <a:ext cx="476250" cy="47625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C9AE14B6-2E11-44D5-98E7-72925D586E2D}"/>
              </a:ext>
            </a:extLst>
          </p:cNvPr>
          <p:cNvSpPr>
            <a:spLocks noGrp="1"/>
          </p:cNvSpPr>
          <p:nvPr/>
        </p:nvSpPr>
        <p:spPr>
          <a:xfrm>
            <a:off x="190500" y="2047875"/>
            <a:ext cx="13335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Validation</a:t>
            </a: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BC4B1DB1-7F91-42F5-A074-DB58CD0AE77B}"/>
              </a:ext>
            </a:extLst>
          </p:cNvPr>
          <p:cNvSpPr>
            <a:spLocks noGrp="1"/>
          </p:cNvSpPr>
          <p:nvPr/>
        </p:nvSpPr>
        <p:spPr>
          <a:xfrm>
            <a:off x="95250" y="2371725"/>
            <a:ext cx="1524000" cy="3238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UX + Failure states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B3AD8643-570B-4249-8766-930883F3D1E1}"/>
              </a:ext>
            </a:extLst>
          </p:cNvPr>
          <p:cNvSpPr>
            <a:spLocks noGrp="1"/>
          </p:cNvSpPr>
          <p:nvPr/>
        </p:nvSpPr>
        <p:spPr>
          <a:xfrm>
            <a:off x="1276350" y="2771775"/>
            <a:ext cx="19050" cy="409575"/>
          </a:xfrm>
          <a:prstGeom prst="rect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</p:sp>
      <p:sp>
        <p:nvSpPr>
          <p:cNvPr id="25" name="מלבן: פינות מעוגלות 24">
            <a:extLst>
              <a:ext uri="{FF2B5EF4-FFF2-40B4-BE49-F238E27FC236}">
                <a16:creationId xmlns:a16="http://schemas.microsoft.com/office/drawing/2014/main" id="{F5B1EB42-2529-4765-9EEB-EFFEB306BC7A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153447"/>
          </a:solidFill>
          <a:ln w="0">
            <a:solidFill>
              <a:srgbClr val="153447"/>
            </a:solidFill>
          </a:ln>
        </p:spPr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62B34CC8-F5D7-4CF9-9D2D-DAD122E80520}"/>
              </a:ext>
            </a:extLst>
          </p:cNvPr>
          <p:cNvSpPr>
            <a:spLocks noGrp="1"/>
          </p:cNvSpPr>
          <p:nvPr/>
        </p:nvSpPr>
        <p:spPr>
          <a:xfrm>
            <a:off x="9715500" y="5314950"/>
            <a:ext cx="142875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35D0C7"/>
                </a:solidFill>
                <a:latin typeface="Arial"/>
                <a:ea typeface="Arial"/>
                <a:cs typeface="Arial"/>
              </a:defRPr>
            </a:pPr>
            <a:r>
              <a:t>Quality gate</a:t>
            </a:r>
          </a:p>
        </p:txBody>
      </p:sp>
      <p:sp>
        <p:nvSpPr>
          <p:cNvPr id="27" name="מלבן: פינות מעוגלות 26">
            <a:extLst>
              <a:ext uri="{FF2B5EF4-FFF2-40B4-BE49-F238E27FC236}">
                <a16:creationId xmlns:a16="http://schemas.microsoft.com/office/drawing/2014/main" id="{ADFBAD26-8659-4D4B-B1B7-23E72C6B4F92}"/>
              </a:ext>
            </a:extLst>
          </p:cNvPr>
          <p:cNvSpPr>
            <a:spLocks noGrp="1"/>
          </p:cNvSpPr>
          <p:nvPr/>
        </p:nvSpPr>
        <p:spPr>
          <a:xfrm>
            <a:off x="7524750" y="5314950"/>
            <a:ext cx="1762125" cy="285750"/>
          </a:xfrm>
          <a:prstGeom prst="roundRect">
            <a:avLst>
              <a:gd name="adj" fmla="val 26667"/>
            </a:avLst>
          </a:prstGeom>
          <a:solidFill>
            <a:srgbClr val="F5F8FA"/>
          </a:solidFill>
          <a:ln w="0">
            <a:solidFill>
              <a:srgbClr val="F5F8FA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Definition of Done</a:t>
            </a:r>
          </a:p>
        </p:txBody>
      </p:sp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66D3A716-0ADE-4DA7-852D-ECBDFA6B5872}"/>
              </a:ext>
            </a:extLst>
          </p:cNvPr>
          <p:cNvSpPr>
            <a:spLocks noGrp="1"/>
          </p:cNvSpPr>
          <p:nvPr/>
        </p:nvSpPr>
        <p:spPr>
          <a:xfrm>
            <a:off x="5524500" y="5314950"/>
            <a:ext cx="1762125" cy="285750"/>
          </a:xfrm>
          <a:prstGeom prst="roundRect">
            <a:avLst>
              <a:gd name="adj" fmla="val 26667"/>
            </a:avLst>
          </a:prstGeom>
          <a:solidFill>
            <a:srgbClr val="F5F8FA"/>
          </a:solidFill>
          <a:ln w="0">
            <a:solidFill>
              <a:srgbClr val="F5F8FA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Code Review</a:t>
            </a:r>
          </a:p>
        </p:txBody>
      </p:sp>
      <p:sp>
        <p:nvSpPr>
          <p:cNvPr id="29" name="מלבן: פינות מעוגלות 28">
            <a:extLst>
              <a:ext uri="{FF2B5EF4-FFF2-40B4-BE49-F238E27FC236}">
                <a16:creationId xmlns:a16="http://schemas.microsoft.com/office/drawing/2014/main" id="{D68A7711-6E6E-41B5-9D99-10D048B15128}"/>
              </a:ext>
            </a:extLst>
          </p:cNvPr>
          <p:cNvSpPr>
            <a:spLocks noGrp="1"/>
          </p:cNvSpPr>
          <p:nvPr/>
        </p:nvSpPr>
        <p:spPr>
          <a:xfrm>
            <a:off x="3524250" y="5314950"/>
            <a:ext cx="1762125" cy="285750"/>
          </a:xfrm>
          <a:prstGeom prst="roundRect">
            <a:avLst>
              <a:gd name="adj" fmla="val 26667"/>
            </a:avLst>
          </a:prstGeom>
          <a:solidFill>
            <a:srgbClr val="F5F8FA"/>
          </a:solidFill>
          <a:ln w="0">
            <a:solidFill>
              <a:srgbClr val="F5F8FA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dirty="0"/>
              <a:t>Merge </a:t>
            </a:r>
            <a:r>
              <a:rPr lang="he-IL" dirty="0"/>
              <a:t> </a:t>
            </a:r>
            <a:r>
              <a:rPr dirty="0" err="1"/>
              <a:t>לגרסה</a:t>
            </a:r>
            <a:r>
              <a:rPr dirty="0"/>
              <a:t> </a:t>
            </a:r>
            <a:r>
              <a:rPr dirty="0" err="1"/>
              <a:t>יציבה</a:t>
            </a:r>
            <a:endParaRPr dirty="0"/>
          </a:p>
        </p:txBody>
      </p:sp>
      <p:sp>
        <p:nvSpPr>
          <p:cNvPr id="30" name="מלבן: פינות מעוגלות 29">
            <a:extLst>
              <a:ext uri="{FF2B5EF4-FFF2-40B4-BE49-F238E27FC236}">
                <a16:creationId xmlns:a16="http://schemas.microsoft.com/office/drawing/2014/main" id="{FD8EA1BC-B4B5-4BEF-88DA-3E02776EF387}"/>
              </a:ext>
            </a:extLst>
          </p:cNvPr>
          <p:cNvSpPr>
            <a:spLocks noGrp="1"/>
          </p:cNvSpPr>
          <p:nvPr/>
        </p:nvSpPr>
        <p:spPr>
          <a:xfrm>
            <a:off x="1524000" y="5314950"/>
            <a:ext cx="1762125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בדיקת מסלול מלא</a:t>
            </a:r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9410BE9D-1959-4C6E-B2F8-F2C94324599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EE82C9D3-E7CD-488D-8455-F04E013450FE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08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5524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kicker-marker">
            <a:extLst>
              <a:ext uri="{FF2B5EF4-FFF2-40B4-BE49-F238E27FC236}">
                <a16:creationId xmlns:a16="http://schemas.microsoft.com/office/drawing/2014/main" id="{71D88726-014F-4304-B1C5-A79B2044534F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4CCD1C5C-46A1-438B-9C95-71E12110417A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83A"/>
                </a:solidFill>
                <a:latin typeface="Arial"/>
                <a:ea typeface="Arial"/>
                <a:cs typeface="Arial"/>
              </a:defRPr>
            </a:pPr>
            <a:r>
              <a:t>TRUST &amp; RISK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2FC27662-F76A-4AE2-ABC9-12B50EA223A2}"/>
              </a:ext>
            </a:extLst>
          </p:cNvPr>
          <p:cNvSpPr>
            <a:spLocks noGrp="1"/>
          </p:cNvSpPr>
          <p:nvPr/>
        </p:nvSpPr>
        <p:spPr>
          <a:xfrm>
            <a:off x="4953000" y="590550"/>
            <a:ext cx="6572250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3150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אמון</a:t>
            </a:r>
            <a:r>
              <a:rPr dirty="0"/>
              <a:t> </a:t>
            </a:r>
            <a:r>
              <a:rPr dirty="0" err="1"/>
              <a:t>הוא</a:t>
            </a:r>
            <a:r>
              <a:rPr dirty="0"/>
              <a:t> </a:t>
            </a:r>
            <a:r>
              <a:rPr dirty="0" err="1"/>
              <a:t>דרישת</a:t>
            </a:r>
            <a:r>
              <a:rPr dirty="0"/>
              <a:t> </a:t>
            </a:r>
            <a:r>
              <a:rPr dirty="0" err="1"/>
              <a:t>מוצר</a:t>
            </a:r>
            <a:r>
              <a:rPr dirty="0"/>
              <a:t>,</a:t>
            </a:r>
            <a:r>
              <a:rPr lang="he-IL" dirty="0"/>
              <a:t> ל</a:t>
            </a:r>
            <a:r>
              <a:rPr dirty="0"/>
              <a:t>א </a:t>
            </a:r>
            <a:r>
              <a:rPr dirty="0" err="1"/>
              <a:t>הערת</a:t>
            </a:r>
            <a:r>
              <a:rPr dirty="0"/>
              <a:t> </a:t>
            </a:r>
            <a:r>
              <a:rPr dirty="0" err="1"/>
              <a:t>שוליים</a:t>
            </a:r>
            <a:r>
              <a:rPr dirty="0"/>
              <a:t>.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BBE941CB-AD66-4C30-BA55-0ABD8BFAB78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071421"/>
          </a:solidFill>
          <a:ln w="0">
            <a:solidFill>
              <a:srgbClr val="071421"/>
            </a:solidFill>
          </a:ln>
        </p:spPr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FC3D8FB7-7157-4D66-8551-F743D7073314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342900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בקרת מוצר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15913DEA-4181-4569-9096-5B35CF136207}"/>
              </a:ext>
            </a:extLst>
          </p:cNvPr>
          <p:cNvSpPr>
            <a:spLocks noGrp="1"/>
          </p:cNvSpPr>
          <p:nvPr/>
        </p:nvSpPr>
        <p:spPr>
          <a:xfrm>
            <a:off x="4724400" y="1885950"/>
            <a:ext cx="31432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כשל בחוויה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EF93808F-CF06-4AF4-9786-BCC5B2774564}"/>
              </a:ext>
            </a:extLst>
          </p:cNvPr>
          <p:cNvSpPr>
            <a:spLocks noGrp="1"/>
          </p:cNvSpPr>
          <p:nvPr/>
        </p:nvSpPr>
        <p:spPr>
          <a:xfrm>
            <a:off x="8229600" y="1885950"/>
            <a:ext cx="285750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סיכון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D83127A3-60A4-44D3-B3D0-C8FDBBBEB06C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3E7"/>
            </a:solidFill>
          </a:ln>
        </p:spPr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503EB03A-3E8A-44E0-A524-5B142ACDD482}"/>
              </a:ext>
            </a:extLst>
          </p:cNvPr>
          <p:cNvSpPr>
            <a:spLocks noGrp="1"/>
          </p:cNvSpPr>
          <p:nvPr/>
        </p:nvSpPr>
        <p:spPr>
          <a:xfrm>
            <a:off x="10991850" y="2609850"/>
            <a:ext cx="323850" cy="3238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84768ABB-29E8-42AC-9142-815BD07BDEE3}"/>
              </a:ext>
            </a:extLst>
          </p:cNvPr>
          <p:cNvSpPr>
            <a:spLocks noGrp="1"/>
          </p:cNvSpPr>
          <p:nvPr/>
        </p:nvSpPr>
        <p:spPr>
          <a:xfrm>
            <a:off x="8181975" y="2562225"/>
            <a:ext cx="266700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פרטיות קורות החיים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7876D641-1C3B-4653-961F-829C1BCE7F94}"/>
              </a:ext>
            </a:extLst>
          </p:cNvPr>
          <p:cNvSpPr>
            <a:spLocks noGrp="1"/>
          </p:cNvSpPr>
          <p:nvPr/>
        </p:nvSpPr>
        <p:spPr>
          <a:xfrm>
            <a:off x="4657725" y="2562225"/>
            <a:ext cx="31432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8707B"/>
                </a:solidFill>
                <a:latin typeface="Arial"/>
                <a:ea typeface="Arial"/>
                <a:cs typeface="Arial"/>
              </a:defRPr>
            </a:pPr>
            <a:r>
              <a:t>המשתמש חושש להעלות מסמך אישי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C398648D-142D-4B1B-B23A-2739E325BF6F}"/>
              </a:ext>
            </a:extLst>
          </p:cNvPr>
          <p:cNvSpPr>
            <a:spLocks noGrp="1"/>
          </p:cNvSpPr>
          <p:nvPr/>
        </p:nvSpPr>
        <p:spPr>
          <a:xfrm>
            <a:off x="942975" y="2562225"/>
            <a:ext cx="3333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שמירה לזמן מוגבל + הסבר ברור</a:t>
            </a:r>
            <a:endParaRPr dirty="0"/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57EF8DCE-1746-4739-A899-4E1BFA8A106C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ECF3F5"/>
          </a:solidFill>
          <a:ln w="9525">
            <a:solidFill>
              <a:srgbClr val="D7E3E7"/>
            </a:solidFill>
          </a:ln>
        </p:spPr>
      </p:sp>
      <p:sp>
        <p:nvSpPr>
          <p:cNvPr id="14" name="אליפסה 13">
            <a:extLst>
              <a:ext uri="{FF2B5EF4-FFF2-40B4-BE49-F238E27FC236}">
                <a16:creationId xmlns:a16="http://schemas.microsoft.com/office/drawing/2014/main" id="{75AE370B-3962-4152-AE51-3593EED5331C}"/>
              </a:ext>
            </a:extLst>
          </p:cNvPr>
          <p:cNvSpPr>
            <a:spLocks noGrp="1"/>
          </p:cNvSpPr>
          <p:nvPr/>
        </p:nvSpPr>
        <p:spPr>
          <a:xfrm>
            <a:off x="10991850" y="3409950"/>
            <a:ext cx="323850" cy="32385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296A1C31-83D1-4710-B402-5202008653A1}"/>
              </a:ext>
            </a:extLst>
          </p:cNvPr>
          <p:cNvSpPr>
            <a:spLocks noGrp="1"/>
          </p:cNvSpPr>
          <p:nvPr/>
        </p:nvSpPr>
        <p:spPr>
          <a:xfrm>
            <a:off x="8181975" y="3362325"/>
            <a:ext cx="266700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המלצת</a:t>
            </a:r>
            <a:r>
              <a:rPr dirty="0"/>
              <a:t> AI</a:t>
            </a:r>
            <a:r>
              <a:rPr lang="he-IL"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מדויקת</a:t>
            </a:r>
            <a:endParaRPr dirty="0"/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4C055E01-5500-4F12-A72A-8A8CA3F5F5D5}"/>
              </a:ext>
            </a:extLst>
          </p:cNvPr>
          <p:cNvSpPr>
            <a:spLocks noGrp="1"/>
          </p:cNvSpPr>
          <p:nvPr/>
        </p:nvSpPr>
        <p:spPr>
          <a:xfrm>
            <a:off x="4657725" y="3362325"/>
            <a:ext cx="31432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8707B"/>
                </a:solidFill>
                <a:latin typeface="Arial"/>
                <a:ea typeface="Arial"/>
                <a:cs typeface="Arial"/>
              </a:defRPr>
            </a:pPr>
            <a:r>
              <a:t>אובדן אמון בתוצאה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7F687521-1503-44C1-A523-1DFAFA207634}"/>
              </a:ext>
            </a:extLst>
          </p:cNvPr>
          <p:cNvSpPr>
            <a:spLocks noGrp="1"/>
          </p:cNvSpPr>
          <p:nvPr/>
        </p:nvSpPr>
        <p:spPr>
          <a:xfrm>
            <a:off x="942975" y="3362325"/>
            <a:ext cx="3333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הצגת הסיבה + אפשרות תיקון</a:t>
            </a:r>
            <a:endParaRPr dirty="0"/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6D68C7EC-E117-468E-9D98-9A85C8BC36ED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3E7"/>
            </a:solidFill>
          </a:ln>
        </p:spPr>
      </p:sp>
      <p:sp>
        <p:nvSpPr>
          <p:cNvPr id="19" name="אליפסה 18">
            <a:extLst>
              <a:ext uri="{FF2B5EF4-FFF2-40B4-BE49-F238E27FC236}">
                <a16:creationId xmlns:a16="http://schemas.microsoft.com/office/drawing/2014/main" id="{3AE3BC54-DBDB-4125-81E7-C210314A5EE6}"/>
              </a:ext>
            </a:extLst>
          </p:cNvPr>
          <p:cNvSpPr>
            <a:spLocks noGrp="1"/>
          </p:cNvSpPr>
          <p:nvPr/>
        </p:nvSpPr>
        <p:spPr>
          <a:xfrm>
            <a:off x="10991850" y="4210050"/>
            <a:ext cx="323850" cy="32385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29EC6128-9D22-42C8-816C-7A157EBE06CA}"/>
              </a:ext>
            </a:extLst>
          </p:cNvPr>
          <p:cNvSpPr>
            <a:spLocks noGrp="1"/>
          </p:cNvSpPr>
          <p:nvPr/>
        </p:nvSpPr>
        <p:spPr>
          <a:xfrm>
            <a:off x="8181975" y="4162425"/>
            <a:ext cx="266700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כשלAPI</a:t>
            </a:r>
            <a:r>
              <a:rPr dirty="0"/>
              <a:t> </a:t>
            </a:r>
            <a:r>
              <a:rPr lang="he-IL" dirty="0"/>
              <a:t> </a:t>
            </a:r>
            <a:r>
              <a:rPr dirty="0" err="1"/>
              <a:t>חיצוני</a:t>
            </a:r>
            <a:endParaRPr dirty="0"/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DAF56782-B78F-45E2-8955-3A1B0C155D2D}"/>
              </a:ext>
            </a:extLst>
          </p:cNvPr>
          <p:cNvSpPr>
            <a:spLocks noGrp="1"/>
          </p:cNvSpPr>
          <p:nvPr/>
        </p:nvSpPr>
        <p:spPr>
          <a:xfrm>
            <a:off x="4657725" y="4162425"/>
            <a:ext cx="31432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8707B"/>
                </a:solidFill>
                <a:latin typeface="Arial"/>
                <a:ea typeface="Arial"/>
                <a:cs typeface="Arial"/>
              </a:defRPr>
            </a:pPr>
            <a:r>
              <a:t>מסך תקוע ללא המשך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4898ED2D-7F02-43DD-ACF0-59B8C703301F}"/>
              </a:ext>
            </a:extLst>
          </p:cNvPr>
          <p:cNvSpPr>
            <a:spLocks noGrp="1"/>
          </p:cNvSpPr>
          <p:nvPr/>
        </p:nvSpPr>
        <p:spPr>
          <a:xfrm>
            <a:off x="942975" y="4162425"/>
            <a:ext cx="3333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Retry ,fallback </a:t>
            </a:r>
            <a:r>
              <a:rPr lang="he-IL" dirty="0"/>
              <a:t> ומצב שגיאה שימושי</a:t>
            </a:r>
            <a:endParaRPr dirty="0"/>
          </a:p>
        </p:txBody>
      </p:sp>
      <p:sp>
        <p:nvSpPr>
          <p:cNvPr id="23" name="מלבן: פינות מעוגלות 22">
            <a:extLst>
              <a:ext uri="{FF2B5EF4-FFF2-40B4-BE49-F238E27FC236}">
                <a16:creationId xmlns:a16="http://schemas.microsoft.com/office/drawing/2014/main" id="{8BD8EA92-6294-4A51-90C6-A96493FE7125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ECF3F5"/>
          </a:solidFill>
          <a:ln w="9525">
            <a:solidFill>
              <a:srgbClr val="D7E3E7"/>
            </a:solidFill>
          </a:ln>
        </p:spPr>
      </p:sp>
      <p:sp>
        <p:nvSpPr>
          <p:cNvPr id="24" name="אליפסה 23">
            <a:extLst>
              <a:ext uri="{FF2B5EF4-FFF2-40B4-BE49-F238E27FC236}">
                <a16:creationId xmlns:a16="http://schemas.microsoft.com/office/drawing/2014/main" id="{E509B085-D752-48A1-A048-F79E8DFC00E5}"/>
              </a:ext>
            </a:extLst>
          </p:cNvPr>
          <p:cNvSpPr>
            <a:spLocks noGrp="1"/>
          </p:cNvSpPr>
          <p:nvPr/>
        </p:nvSpPr>
        <p:spPr>
          <a:xfrm>
            <a:off x="10991850" y="5010150"/>
            <a:ext cx="323850" cy="3238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82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0EE5F344-5F84-4473-92E9-F24696290F37}"/>
              </a:ext>
            </a:extLst>
          </p:cNvPr>
          <p:cNvSpPr>
            <a:spLocks noGrp="1"/>
          </p:cNvSpPr>
          <p:nvPr/>
        </p:nvSpPr>
        <p:spPr>
          <a:xfrm>
            <a:off x="8181975" y="4962525"/>
            <a:ext cx="266700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t>נגישות ובהירות</a:t>
            </a:r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5B7C2BD3-5C1A-490E-9CD7-13B2FDDFF98C}"/>
              </a:ext>
            </a:extLst>
          </p:cNvPr>
          <p:cNvSpPr>
            <a:spLocks noGrp="1"/>
          </p:cNvSpPr>
          <p:nvPr/>
        </p:nvSpPr>
        <p:spPr>
          <a:xfrm>
            <a:off x="4657725" y="4962525"/>
            <a:ext cx="31432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0">
                <a:solidFill>
                  <a:srgbClr val="58707B"/>
                </a:solidFill>
                <a:latin typeface="Arial"/>
                <a:ea typeface="Arial"/>
                <a:cs typeface="Arial"/>
              </a:defRPr>
            </a:pPr>
            <a:r>
              <a:t>מידע חשוב מוסתר בצבע בלבד</a:t>
            </a: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D8ED2620-21AB-4454-A018-B3F0D9D268F6}"/>
              </a:ext>
            </a:extLst>
          </p:cNvPr>
          <p:cNvSpPr>
            <a:spLocks noGrp="1"/>
          </p:cNvSpPr>
          <p:nvPr/>
        </p:nvSpPr>
        <p:spPr>
          <a:xfrm>
            <a:off x="942975" y="4962525"/>
            <a:ext cx="3333750" cy="4000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10202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ניגודיות, טקסט ותוויות מצב</a:t>
            </a:r>
          </a:p>
        </p:txBody>
      </p:sp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B65226B0-06E1-4C88-A3CF-F2D55FB483E3}"/>
              </a:ext>
            </a:extLst>
          </p:cNvPr>
          <p:cNvSpPr>
            <a:spLocks noGrp="1"/>
          </p:cNvSpPr>
          <p:nvPr/>
        </p:nvSpPr>
        <p:spPr>
          <a:xfrm>
            <a:off x="6191250" y="5810250"/>
            <a:ext cx="5391150" cy="285750"/>
          </a:xfrm>
          <a:prstGeom prst="roundRect">
            <a:avLst>
              <a:gd name="adj" fmla="val 26667"/>
            </a:avLst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עיקרון: המערכת לא מסתירה </a:t>
            </a:r>
            <a:r>
              <a:rPr lang="he-IL" dirty="0" err="1"/>
              <a:t>אי־ודאות</a:t>
            </a:r>
            <a:r>
              <a:rPr lang="he-IL" dirty="0"/>
              <a:t> - היא מנהלת אותה.</a:t>
            </a:r>
            <a:endParaRPr dirty="0"/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ED582A48-2603-41D6-9005-99A37F51B07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4E0E5"/>
          </a:solidFill>
          <a:ln w="0">
            <a:solidFill>
              <a:srgbClr val="D4E0E5"/>
            </a:solidFill>
          </a:ln>
        </p:spPr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81FBDEB5-FBB4-4C05-AF60-00F30FD0E54A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617986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09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1475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kicker-marker">
            <a:extLst>
              <a:ext uri="{FF2B5EF4-FFF2-40B4-BE49-F238E27FC236}">
                <a16:creationId xmlns:a16="http://schemas.microsoft.com/office/drawing/2014/main" id="{936B0CEF-7ED3-4EBB-B60E-0217E3D17FB9}"/>
              </a:ext>
            </a:extLst>
          </p:cNvPr>
          <p:cNvSpPr>
            <a:spLocks noGrp="1"/>
          </p:cNvSpPr>
          <p:nvPr/>
        </p:nvSpPr>
        <p:spPr>
          <a:xfrm>
            <a:off x="11334750" y="304800"/>
            <a:ext cx="114300" cy="11430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9669059A-DDC1-4AA1-9499-578631DB0ED9}"/>
              </a:ext>
            </a:extLst>
          </p:cNvPr>
          <p:cNvSpPr>
            <a:spLocks noGrp="1"/>
          </p:cNvSpPr>
          <p:nvPr/>
        </p:nvSpPr>
        <p:spPr>
          <a:xfrm>
            <a:off x="8572500" y="190500"/>
            <a:ext cx="264795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75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ROADMAP &amp; SUCCESS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2E803E9F-43BE-44CE-A4CE-2D5FA4636F46}"/>
              </a:ext>
            </a:extLst>
          </p:cNvPr>
          <p:cNvSpPr>
            <a:spLocks noGrp="1"/>
          </p:cNvSpPr>
          <p:nvPr/>
        </p:nvSpPr>
        <p:spPr>
          <a:xfrm>
            <a:off x="351692" y="609600"/>
            <a:ext cx="11173558" cy="9525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 fontScale="99206"/>
          </a:bodyPr>
          <a:lstStyle/>
          <a:p>
            <a:pPr algn="r" rtl="1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ה־</a:t>
            </a:r>
            <a:r>
              <a:rPr lang="en-US" dirty="0"/>
              <a:t>MVP</a:t>
            </a:r>
            <a:r>
              <a:rPr lang="he-IL" dirty="0"/>
              <a:t> מוכיח ערך דרך התנהגות משתמשים, לא דרך מספר מסכים.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819CE599-C1E4-4FC7-93A9-5DCA027916A3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6762750" cy="3810000"/>
          </a:xfrm>
          <a:prstGeom prst="roundRect">
            <a:avLst>
              <a:gd name="adj" fmla="val 2000"/>
            </a:avLst>
          </a:prstGeom>
          <a:solidFill>
            <a:srgbClr val="10283A"/>
          </a:solidFill>
          <a:ln w="9525">
            <a:solidFill>
              <a:srgbClr val="2D4B5D"/>
            </a:solidFill>
          </a:ln>
        </p:spPr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B1644616-3281-478F-A498-BC0E9FEAD8AD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59055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שלושה צעדים לבנייה</a:t>
            </a:r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1843E03F-CD57-4F17-A772-5674FEDA5126}"/>
              </a:ext>
            </a:extLst>
          </p:cNvPr>
          <p:cNvSpPr>
            <a:spLocks noGrp="1"/>
          </p:cNvSpPr>
          <p:nvPr/>
        </p:nvSpPr>
        <p:spPr>
          <a:xfrm>
            <a:off x="6419850" y="2781300"/>
            <a:ext cx="438150" cy="438150"/>
          </a:xfrm>
          <a:prstGeom prst="ellipse">
            <a:avLst/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EFEB0783-AC11-4B9F-B250-152E90CAC0BA}"/>
              </a:ext>
            </a:extLst>
          </p:cNvPr>
          <p:cNvSpPr>
            <a:spLocks noGrp="1"/>
          </p:cNvSpPr>
          <p:nvPr/>
        </p:nvSpPr>
        <p:spPr>
          <a:xfrm>
            <a:off x="5162550" y="2847975"/>
            <a:ext cx="990600" cy="285750"/>
          </a:xfrm>
          <a:prstGeom prst="roundRect">
            <a:avLst>
              <a:gd name="adj" fmla="val 26667"/>
            </a:avLst>
          </a:prstGeom>
          <a:solidFill>
            <a:srgbClr val="35D0C7"/>
          </a:solidFill>
          <a:ln w="0">
            <a:solidFill>
              <a:srgbClr val="35D0C7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MVP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D570F8C1-3821-4531-84D2-BE50E4014CD3}"/>
              </a:ext>
            </a:extLst>
          </p:cNvPr>
          <p:cNvSpPr>
            <a:spLocks noGrp="1"/>
          </p:cNvSpPr>
          <p:nvPr/>
        </p:nvSpPr>
        <p:spPr>
          <a:xfrm>
            <a:off x="2305050" y="2771775"/>
            <a:ext cx="26670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Upload → analysis → matches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DBA086C5-0D02-4EBC-90BB-367FE63AEF40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3981450" cy="33337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להוכיח שהמסלול עובד מקצה לקצה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CF4C8442-0D8E-4041-B361-E48B0EF0FF5E}"/>
              </a:ext>
            </a:extLst>
          </p:cNvPr>
          <p:cNvSpPr>
            <a:spLocks noGrp="1"/>
          </p:cNvSpPr>
          <p:nvPr/>
        </p:nvSpPr>
        <p:spPr>
          <a:xfrm>
            <a:off x="6619875" y="3219450"/>
            <a:ext cx="19050" cy="438150"/>
          </a:xfrm>
          <a:prstGeom prst="rect">
            <a:avLst/>
          </a:prstGeom>
          <a:solidFill>
            <a:srgbClr val="486575"/>
          </a:solidFill>
          <a:ln w="0">
            <a:solidFill>
              <a:srgbClr val="486575"/>
            </a:solidFill>
          </a:ln>
        </p:spPr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4AADC47A-0074-4ED8-A1E4-C25CD013D609}"/>
              </a:ext>
            </a:extLst>
          </p:cNvPr>
          <p:cNvSpPr>
            <a:spLocks noGrp="1"/>
          </p:cNvSpPr>
          <p:nvPr/>
        </p:nvSpPr>
        <p:spPr>
          <a:xfrm>
            <a:off x="6419850" y="3657600"/>
            <a:ext cx="438150" cy="438150"/>
          </a:xfrm>
          <a:prstGeom prst="ellipse">
            <a:avLst/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8F9F573D-6A86-4B91-8AF4-58E4AB77AFE6}"/>
              </a:ext>
            </a:extLst>
          </p:cNvPr>
          <p:cNvSpPr>
            <a:spLocks noGrp="1"/>
          </p:cNvSpPr>
          <p:nvPr/>
        </p:nvSpPr>
        <p:spPr>
          <a:xfrm>
            <a:off x="5162550" y="3724275"/>
            <a:ext cx="990600" cy="285750"/>
          </a:xfrm>
          <a:prstGeom prst="roundRect">
            <a:avLst>
              <a:gd name="adj" fmla="val 26667"/>
            </a:avLst>
          </a:prstGeom>
          <a:solidFill>
            <a:srgbClr val="B8E36B"/>
          </a:solidFill>
          <a:ln w="0">
            <a:solidFill>
              <a:srgbClr val="B8E36B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VALIDATE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7B519B83-07DB-43B7-9267-C8B36DB871CD}"/>
              </a:ext>
            </a:extLst>
          </p:cNvPr>
          <p:cNvSpPr>
            <a:spLocks noGrp="1"/>
          </p:cNvSpPr>
          <p:nvPr/>
        </p:nvSpPr>
        <p:spPr>
          <a:xfrm>
            <a:off x="2305050" y="3648075"/>
            <a:ext cx="26670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בדיקות משתמשים + שיפור </a:t>
            </a:r>
            <a:r>
              <a:rPr lang="en-US" dirty="0"/>
              <a:t>UX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FB9A072F-DF84-4139-A1FA-EC6827D0D0BB}"/>
              </a:ext>
            </a:extLst>
          </p:cNvPr>
          <p:cNvSpPr>
            <a:spLocks noGrp="1"/>
          </p:cNvSpPr>
          <p:nvPr/>
        </p:nvSpPr>
        <p:spPr>
          <a:xfrm>
            <a:off x="990600" y="3952875"/>
            <a:ext cx="3981450" cy="33337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t>לזהות היכן המשתמש מאבד ביטחון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ACCC2F7C-5096-4E62-BB0E-DFD6FFF08786}"/>
              </a:ext>
            </a:extLst>
          </p:cNvPr>
          <p:cNvSpPr>
            <a:spLocks noGrp="1"/>
          </p:cNvSpPr>
          <p:nvPr/>
        </p:nvSpPr>
        <p:spPr>
          <a:xfrm>
            <a:off x="6619875" y="4095750"/>
            <a:ext cx="19050" cy="438150"/>
          </a:xfrm>
          <a:prstGeom prst="rect">
            <a:avLst/>
          </a:prstGeom>
          <a:solidFill>
            <a:srgbClr val="486575"/>
          </a:solidFill>
          <a:ln w="0">
            <a:solidFill>
              <a:srgbClr val="486575"/>
            </a:solidFill>
          </a:ln>
        </p:spPr>
      </p:sp>
      <p:sp>
        <p:nvSpPr>
          <p:cNvPr id="16" name="אליפסה 15">
            <a:extLst>
              <a:ext uri="{FF2B5EF4-FFF2-40B4-BE49-F238E27FC236}">
                <a16:creationId xmlns:a16="http://schemas.microsoft.com/office/drawing/2014/main" id="{D7D275DB-F49B-40C8-9732-EB0AE9017FF1}"/>
              </a:ext>
            </a:extLst>
          </p:cNvPr>
          <p:cNvSpPr>
            <a:spLocks noGrp="1"/>
          </p:cNvSpPr>
          <p:nvPr/>
        </p:nvSpPr>
        <p:spPr>
          <a:xfrm>
            <a:off x="6419850" y="4533900"/>
            <a:ext cx="438150" cy="438150"/>
          </a:xfrm>
          <a:prstGeom prst="ellipse">
            <a:avLst/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19050" tIns="19050" rIns="19050" bIns="1905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B4B61D0A-7BDE-425E-9BDF-E647FD56A5CF}"/>
              </a:ext>
            </a:extLst>
          </p:cNvPr>
          <p:cNvSpPr>
            <a:spLocks noGrp="1"/>
          </p:cNvSpPr>
          <p:nvPr/>
        </p:nvSpPr>
        <p:spPr>
          <a:xfrm>
            <a:off x="5162550" y="4600575"/>
            <a:ext cx="990600" cy="285750"/>
          </a:xfrm>
          <a:prstGeom prst="roundRect">
            <a:avLst>
              <a:gd name="adj" fmla="val 26667"/>
            </a:avLst>
          </a:prstGeom>
          <a:solidFill>
            <a:srgbClr val="FFB45C"/>
          </a:solidFill>
          <a:ln w="0">
            <a:solidFill>
              <a:srgbClr val="FFB45C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975" b="1">
                <a:solidFill>
                  <a:srgbClr val="071421"/>
                </a:solidFill>
                <a:latin typeface="Arial"/>
                <a:ea typeface="Arial"/>
                <a:cs typeface="Arial"/>
              </a:defRPr>
            </a:pPr>
            <a:r>
              <a:t>EXPAND</a:t>
            </a: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D976F933-041D-438A-973F-4CF516EC06EA}"/>
              </a:ext>
            </a:extLst>
          </p:cNvPr>
          <p:cNvSpPr>
            <a:spLocks noGrp="1"/>
          </p:cNvSpPr>
          <p:nvPr/>
        </p:nvSpPr>
        <p:spPr>
          <a:xfrm>
            <a:off x="2305050" y="4524375"/>
            <a:ext cx="2667000" cy="2857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פרופיל, היסטוריה והתאמה חוזרת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10B147A4-B62B-4652-80BC-52F1EA0074EE}"/>
              </a:ext>
            </a:extLst>
          </p:cNvPr>
          <p:cNvSpPr>
            <a:spLocks noGrp="1"/>
          </p:cNvSpPr>
          <p:nvPr/>
        </p:nvSpPr>
        <p:spPr>
          <a:xfrm>
            <a:off x="990600" y="4829175"/>
            <a:ext cx="3981450" cy="333375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900" b="0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להפוך</a:t>
            </a:r>
            <a:r>
              <a:rPr dirty="0"/>
              <a:t> </a:t>
            </a:r>
            <a:r>
              <a:rPr dirty="0" err="1"/>
              <a:t>פעולה</a:t>
            </a:r>
            <a:r>
              <a:rPr dirty="0"/>
              <a:t> </a:t>
            </a:r>
            <a:r>
              <a:rPr dirty="0" err="1"/>
              <a:t>חד־פעמית</a:t>
            </a:r>
            <a:r>
              <a:rPr dirty="0"/>
              <a:t> </a:t>
            </a:r>
            <a:r>
              <a:rPr dirty="0" err="1"/>
              <a:t>למוצר</a:t>
            </a:r>
            <a:r>
              <a:rPr dirty="0"/>
              <a:t> </a:t>
            </a:r>
            <a:r>
              <a:rPr dirty="0" err="1"/>
              <a:t>חוזר</a:t>
            </a:r>
            <a:endParaRPr dirty="0"/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09352C98-0811-47F0-8277-42226909EE38}"/>
              </a:ext>
            </a:extLst>
          </p:cNvPr>
          <p:cNvSpPr>
            <a:spLocks noGrp="1"/>
          </p:cNvSpPr>
          <p:nvPr/>
        </p:nvSpPr>
        <p:spPr>
          <a:xfrm>
            <a:off x="7953375" y="2000250"/>
            <a:ext cx="333375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איך</a:t>
            </a:r>
            <a:r>
              <a:rPr dirty="0"/>
              <a:t> </a:t>
            </a:r>
            <a:r>
              <a:rPr dirty="0" err="1"/>
              <a:t>נדע</a:t>
            </a:r>
            <a:r>
              <a:rPr dirty="0"/>
              <a:t> </a:t>
            </a:r>
            <a:r>
              <a:rPr dirty="0" err="1"/>
              <a:t>שזה</a:t>
            </a:r>
            <a:r>
              <a:rPr dirty="0"/>
              <a:t> </a:t>
            </a:r>
            <a:r>
              <a:rPr dirty="0" err="1"/>
              <a:t>עובד</a:t>
            </a:r>
            <a:r>
              <a:rPr dirty="0"/>
              <a:t>?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41A7F87B-439D-429D-8D5A-4D44008657B8}"/>
              </a:ext>
            </a:extLst>
          </p:cNvPr>
          <p:cNvSpPr>
            <a:spLocks noGrp="1"/>
          </p:cNvSpPr>
          <p:nvPr/>
        </p:nvSpPr>
        <p:spPr>
          <a:xfrm>
            <a:off x="9144000" y="2476500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35D0C7"/>
                </a:solidFill>
                <a:latin typeface="Arial"/>
                <a:ea typeface="Arial"/>
                <a:cs typeface="Arial"/>
              </a:defRPr>
            </a:pPr>
            <a:r>
              <a:t>השלמה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6BDF96A1-9BB7-4646-BDCE-7B89634A01F0}"/>
              </a:ext>
            </a:extLst>
          </p:cNvPr>
          <p:cNvSpPr>
            <a:spLocks noGrp="1"/>
          </p:cNvSpPr>
          <p:nvPr/>
        </p:nvSpPr>
        <p:spPr>
          <a:xfrm>
            <a:off x="9144000" y="2933700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אחוז שמסיים את המסלול המלא</a:t>
            </a: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89367941-E9E1-474B-B1C0-92C04913D7BF}"/>
              </a:ext>
            </a:extLst>
          </p:cNvPr>
          <p:cNvSpPr>
            <a:spLocks noGrp="1"/>
          </p:cNvSpPr>
          <p:nvPr/>
        </p:nvSpPr>
        <p:spPr>
          <a:xfrm>
            <a:off x="9144000" y="3333750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B8E36B"/>
                </a:solidFill>
                <a:latin typeface="Arial"/>
                <a:ea typeface="Arial"/>
                <a:cs typeface="Arial"/>
              </a:defRPr>
            </a:pPr>
            <a:r>
              <a:t>רלוונטיות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A5F50D8B-49D3-4FD4-866E-9A2B158FCC20}"/>
              </a:ext>
            </a:extLst>
          </p:cNvPr>
          <p:cNvSpPr>
            <a:spLocks noGrp="1"/>
          </p:cNvSpPr>
          <p:nvPr/>
        </p:nvSpPr>
        <p:spPr>
          <a:xfrm>
            <a:off x="9144000" y="3790950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בחירת משרה מתוך ההמלצות</a:t>
            </a: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5B4D2289-F36E-49CB-BB97-EC11B5029E59}"/>
              </a:ext>
            </a:extLst>
          </p:cNvPr>
          <p:cNvSpPr>
            <a:spLocks noGrp="1"/>
          </p:cNvSpPr>
          <p:nvPr/>
        </p:nvSpPr>
        <p:spPr>
          <a:xfrm>
            <a:off x="9144000" y="4191000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FFB45C"/>
                </a:solidFill>
                <a:latin typeface="Arial"/>
                <a:ea typeface="Arial"/>
                <a:cs typeface="Arial"/>
              </a:defRPr>
            </a:pPr>
            <a:r>
              <a:t>אימוץ</a:t>
            </a:r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BE339D07-56C8-4F76-80A8-17E8D7B688A2}"/>
              </a:ext>
            </a:extLst>
          </p:cNvPr>
          <p:cNvSpPr>
            <a:spLocks noGrp="1"/>
          </p:cNvSpPr>
          <p:nvPr/>
        </p:nvSpPr>
        <p:spPr>
          <a:xfrm>
            <a:off x="9144000" y="4648200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הורדת קובץ משופר</a:t>
            </a: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D3B7204B-65EC-41E2-86EF-497F5DFF7320}"/>
              </a:ext>
            </a:extLst>
          </p:cNvPr>
          <p:cNvSpPr>
            <a:spLocks noGrp="1"/>
          </p:cNvSpPr>
          <p:nvPr/>
        </p:nvSpPr>
        <p:spPr>
          <a:xfrm>
            <a:off x="9144000" y="5048250"/>
            <a:ext cx="1905000" cy="4572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ctr">
            <a:normAutofit/>
          </a:bodyPr>
          <a:lstStyle/>
          <a:p>
            <a:pPr algn="r" rtl="1">
              <a:defRPr sz="2325" b="1">
                <a:solidFill>
                  <a:srgbClr val="35D0C7"/>
                </a:solidFill>
                <a:latin typeface="Arial"/>
                <a:ea typeface="Arial"/>
                <a:cs typeface="Arial"/>
              </a:defRPr>
            </a:pPr>
            <a:r>
              <a:t>מהירות</a:t>
            </a:r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E3FA46E8-4EE6-4F43-9DEB-80B9DA5F8E17}"/>
              </a:ext>
            </a:extLst>
          </p:cNvPr>
          <p:cNvSpPr>
            <a:spLocks noGrp="1"/>
          </p:cNvSpPr>
          <p:nvPr/>
        </p:nvSpPr>
        <p:spPr>
          <a:xfrm>
            <a:off x="9144000" y="5505450"/>
            <a:ext cx="1905000" cy="36195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0" tIns="0" rIns="0" bIns="0" anchor="t">
            <a:normAutofit/>
          </a:bodyPr>
          <a:lstStyle/>
          <a:p>
            <a:pPr algn="r" rtl="1">
              <a:defRPr sz="1050" b="0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t>זמן מהעלאה לתוצר</a:t>
            </a: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A4496631-0915-4563-9A73-13E6CBE8B04E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3429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ctr" rtl="1">
              <a:defRPr sz="1500" b="1">
                <a:solidFill>
                  <a:srgbClr val="DCE8EC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הופכים חיפוש עבודה מתהליך מפוזר להחלטה ברורה.</a:t>
            </a:r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E31A02C3-582C-49F1-9506-DCA78B0654C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294252"/>
          </a:solidFill>
          <a:ln w="0">
            <a:solidFill>
              <a:srgbClr val="294252"/>
            </a:solidFill>
          </a:ln>
        </p:spPr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C6934988-F127-4034-8918-2A07C4836BC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228600"/>
          </a:xfrm>
          <a:prstGeom prst="rect">
            <a:avLst/>
          </a:prstGeom>
          <a:noFill/>
          <a:ln w="0">
            <a:solidFill>
              <a:srgbClr val="071421"/>
            </a:solidFill>
          </a:ln>
        </p:spPr>
        <p:txBody>
          <a:bodyPr lIns="76200" tIns="38100" rIns="76200" bIns="38100" anchor="ctr">
            <a:normAutofit/>
          </a:bodyPr>
          <a:lstStyle/>
          <a:p>
            <a:pPr algn="r" rtl="1">
              <a:defRPr sz="825" b="1">
                <a:solidFill>
                  <a:srgbClr val="8FA7B5"/>
                </a:solidFill>
                <a:latin typeface="Arial"/>
                <a:ea typeface="Arial"/>
                <a:cs typeface="Arial"/>
              </a:defRPr>
            </a:pPr>
            <a:r>
              <a:rPr lang="he-IL" dirty="0"/>
              <a:t>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38182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848</Words>
  <Application>Microsoft Office PowerPoint</Application>
  <DocSecurity>0</DocSecurity>
  <PresentationFormat>מסך רחב</PresentationFormat>
  <Paragraphs>279</Paragraphs>
  <Slides>11</Slides>
  <Notes>11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ChatGPT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שגיא בר און</cp:lastModifiedBy>
  <cp:revision>10</cp:revision>
  <dcterms:created xsi:type="dcterms:W3CDTF">2026-06-12T06:49:04Z</dcterms:created>
  <dcterms:modified xsi:type="dcterms:W3CDTF">2026-06-12T07:47:55Z</dcterms:modified>
</cp:coreProperties>
</file>